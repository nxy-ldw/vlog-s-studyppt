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sldIdLst>
    <p:sldId id="256" r:id="rId3"/>
    <p:sldId id="28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0" r:id="rId26"/>
    <p:sldId id="281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189D1-8CD7-44ED-B973-A474C19F44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F35C0-587C-4560-AB2B-88417517B47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FF35C0-587C-4560-AB2B-88417517B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0E3A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s00_01_738x75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0"/>
            <a:ext cx="6751290" cy="68580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460857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 dirty="0" err="1">
                <a:solidFill>
                  <a:srgbClr val="7FC4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拍摄教程</a:t>
            </a:r>
            <a:r>
              <a:rPr sz="1200" b="1" dirty="0">
                <a:solidFill>
                  <a:srgbClr val="7FC4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en-US" sz="1200" b="1" dirty="0">
                <a:solidFill>
                  <a:srgbClr val="7FC4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</a:t>
            </a:r>
            <a:r>
              <a:rPr lang="en-US" altLang="zh-CN" sz="1200" b="1" dirty="0">
                <a:solidFill>
                  <a:srgbClr val="7FC4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</a:t>
            </a:r>
            <a:r>
              <a:rPr lang="zh-CN" altLang="en-US" sz="1200" b="1" dirty="0">
                <a:solidFill>
                  <a:srgbClr val="7FC4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社团</a:t>
            </a:r>
            <a:r>
              <a:rPr sz="1200" b="1" dirty="0" err="1">
                <a:solidFill>
                  <a:srgbClr val="7FC4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系列课程</a:t>
            </a:r>
            <a:endParaRPr sz="1200" b="1" dirty="0">
              <a:solidFill>
                <a:srgbClr val="7FC4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4791456" cy="735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Vlog 拍摄入门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340864"/>
            <a:ext cx="4745736" cy="89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4000"/>
              </a:lnSpc>
              <a:spcAft>
                <a:spcPts val="0"/>
              </a:spcAft>
            </a:pPr>
            <a:r>
              <a:rPr sz="1900" b="0">
                <a:solidFill>
                  <a:srgbClr val="D8E8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第二课　运镜：
让画面动起来，故事才流动</a:t>
            </a:r>
            <a:endParaRPr sz="1900" b="0">
              <a:solidFill>
                <a:srgbClr val="D8E8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68680" y="3675888"/>
            <a:ext cx="2057400" cy="0"/>
          </a:xfrm>
          <a:prstGeom prst="line">
            <a:avLst/>
          </a:prstGeom>
          <a:ln w="38100">
            <a:solidFill>
              <a:srgbClr val="E88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3913632"/>
            <a:ext cx="4700016" cy="10044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208000"/>
              </a:lnSpc>
              <a:spcAft>
                <a:spcPts val="0"/>
              </a:spcAft>
            </a:pPr>
            <a:r>
              <a:rPr sz="1200" b="0">
                <a:solidFill>
                  <a:srgbClr val="A9C6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适用对象：手机 / 微单 / 相机拍摄爱好者</a:t>
            </a:r>
            <a:endParaRPr sz="1200" b="0">
              <a:solidFill>
                <a:srgbClr val="A9C6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208000"/>
              </a:lnSpc>
              <a:spcAft>
                <a:spcPts val="0"/>
              </a:spcAft>
            </a:pPr>
            <a:r>
              <a:rPr sz="1200" b="0">
                <a:solidFill>
                  <a:srgbClr val="A9C6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课程时长：约 90 分钟（含随堂实拍）</a:t>
            </a:r>
            <a:endParaRPr sz="1200" b="0">
              <a:solidFill>
                <a:srgbClr val="A9C6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208000"/>
              </a:lnSpc>
              <a:spcAft>
                <a:spcPts val="0"/>
              </a:spcAft>
            </a:pPr>
            <a:r>
              <a:rPr sz="1200" b="0">
                <a:solidFill>
                  <a:srgbClr val="A9C6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本课重点：推拉 · 摇 · 移 · 跟随 · 升降 · 环绕 · 稳定</a:t>
            </a:r>
            <a:endParaRPr sz="1200" b="0">
              <a:solidFill>
                <a:srgbClr val="A9C6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5440680"/>
            <a:ext cx="2240280" cy="475488"/>
          </a:xfrm>
          <a:prstGeom prst="roundRect">
            <a:avLst>
              <a:gd name="adj" fmla="val 19230"/>
            </a:avLst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40680"/>
            <a:ext cx="227685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开始学习 →</a:t>
            </a:r>
            <a:endParaRPr sz="1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475488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课程地图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本课程学什么</a:t>
            </a:r>
            <a:endParaRPr sz="27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1417320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拍摄教程 · 第二课　Vlog 运镜入门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F4F7FA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第一课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9536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构图</a:t>
            </a:r>
            <a:endParaRPr sz="190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859536" y="2798064"/>
            <a:ext cx="1648352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59536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三分法 · 对称 · 引导线
框架 · 景深 · 留白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59536" y="4425696"/>
            <a:ext cx="557784" cy="274320"/>
          </a:xfrm>
          <a:prstGeom prst="roundRect">
            <a:avLst>
              <a:gd name="adj" fmla="val 20000"/>
            </a:avLst>
          </a:prstGeom>
          <a:solidFill>
            <a:srgbClr val="E1E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425696"/>
            <a:ext cx="59436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已学</a:t>
            </a:r>
            <a:endParaRPr sz="1050" b="1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864504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64504" y="1755648"/>
            <a:ext cx="2050688" cy="82296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5672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8FC0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第二课</a:t>
            </a:r>
            <a:endParaRPr sz="1050" b="1">
              <a:solidFill>
                <a:srgbClr val="8FC0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65672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运镜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3065672" y="2798064"/>
            <a:ext cx="1648353" cy="0"/>
          </a:xfrm>
          <a:prstGeom prst="line">
            <a:avLst/>
          </a:prstGeom>
          <a:ln w="12700">
            <a:solidFill>
              <a:srgbClr val="2E6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65672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200" b="0">
                <a:solidFill>
                  <a:srgbClr val="C3DA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推拉 · 摇 · 移 · 跟随
升降 · 环绕 · 稳定</a:t>
            </a:r>
            <a:endParaRPr sz="1200" b="0">
              <a:solidFill>
                <a:srgbClr val="C3DA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065672" y="4425696"/>
            <a:ext cx="557784" cy="274320"/>
          </a:xfrm>
          <a:prstGeom prst="roundRect">
            <a:avLst>
              <a:gd name="adj" fmla="val 20000"/>
            </a:avLst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5672" y="4425696"/>
            <a:ext cx="59436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70641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F4F7FA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71809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第三课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71809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收音</a:t>
            </a:r>
            <a:endParaRPr sz="190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5271809" y="2798064"/>
            <a:ext cx="1648352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271809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设备选择 · 麦克风
降噪 · 人声处理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271809" y="4425696"/>
            <a:ext cx="699516" cy="274320"/>
          </a:xfrm>
          <a:prstGeom prst="roundRect">
            <a:avLst>
              <a:gd name="adj" fmla="val 20000"/>
            </a:avLst>
          </a:prstGeom>
          <a:solidFill>
            <a:srgbClr val="E1E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71809" y="4425696"/>
            <a:ext cx="736092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下一课</a:t>
            </a:r>
            <a:endParaRPr sz="1050" b="1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276777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F4F7FA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77945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第四课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477945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剪辑</a:t>
            </a:r>
            <a:endParaRPr sz="190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7477945" y="2798064"/>
            <a:ext cx="1648352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77945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粗剪 · 节奏 · 转场
字幕 · 调色 · 导出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477945" y="4425696"/>
            <a:ext cx="557784" cy="274320"/>
          </a:xfrm>
          <a:prstGeom prst="roundRect">
            <a:avLst>
              <a:gd name="adj" fmla="val 20000"/>
            </a:avLst>
          </a:prstGeom>
          <a:solidFill>
            <a:srgbClr val="E1E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77945" y="4425696"/>
            <a:ext cx="59436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</a:t>
            </a:r>
            <a:endParaRPr sz="1050" b="1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482913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F4F7FA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84081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第五课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684081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脚本思路</a:t>
            </a:r>
            <a:endParaRPr sz="190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9684081" y="2798064"/>
            <a:ext cx="1648353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684081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选题 · 钩子 · 结构
分镜 · 台词 · 复盘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684081" y="4425696"/>
            <a:ext cx="557784" cy="274320"/>
          </a:xfrm>
          <a:prstGeom prst="roundRect">
            <a:avLst>
              <a:gd name="adj" fmla="val 20000"/>
            </a:avLst>
          </a:prstGeom>
          <a:solidFill>
            <a:srgbClr val="E1E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84081" y="4425696"/>
            <a:ext cx="59436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</a:t>
            </a:r>
            <a:endParaRPr sz="1050" b="1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58368" y="5138928"/>
            <a:ext cx="10875234" cy="859536"/>
          </a:xfrm>
          <a:prstGeom prst="roundRect">
            <a:avLst>
              <a:gd name="adj" fmla="val 8510"/>
            </a:avLst>
          </a:prstGeom>
          <a:solidFill>
            <a:srgbClr val="FDEE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368" y="5138928"/>
            <a:ext cx="64008" cy="859536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" y="5138928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五课一条线：构图决定好不好看，运镜决定动不动，收音决定听得清不清，剪辑决定节奏，脚本决定有没有人看下去。</a:t>
            </a:r>
            <a:endParaRPr sz="1200" b="1">
              <a:solidFill>
                <a:srgbClr val="0E3A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 · 01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什么是运镜？</a:t>
            </a:r>
            <a:endParaRPr sz="27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运镜 = 拍摄时让镜头产生有目的的运动，用运动来讲故事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拍摄教程 · 第二课　Vlog 运镜入门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1828800"/>
            <a:ext cx="6675120" cy="2304288"/>
          </a:xfrm>
          <a:prstGeom prst="roundRect">
            <a:avLst>
              <a:gd name="adj" fmla="val 3968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93392"/>
            <a:ext cx="616305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镜头的运动只有两种来源</a:t>
            </a:r>
            <a:endParaRPr sz="155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982980" y="250088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2144" y="2432304"/>
            <a:ext cx="5943600" cy="293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4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机位动 —— 机器本身移动：移、跟随、升降、环绕</a:t>
            </a:r>
            <a:endParaRPr sz="14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982980" y="290830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" y="2839720"/>
            <a:ext cx="5943600" cy="293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4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镜头动 —— 机位不动只转方向：横摇、纵摇、变焦</a:t>
            </a:r>
            <a:endParaRPr sz="14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82980" y="331571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2144" y="3247136"/>
            <a:ext cx="5943600" cy="293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4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两者叠加 —— 边走边摇，是 Vlog 最常见的运动方式</a:t>
            </a:r>
            <a:endParaRPr sz="14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562088" y="1828800"/>
            <a:ext cx="3968496" cy="2304288"/>
          </a:xfrm>
          <a:prstGeom prst="roundRect">
            <a:avLst>
              <a:gd name="adj" fmla="val 3968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2011680"/>
            <a:ext cx="351129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8FC0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一句话记住</a:t>
            </a:r>
            <a:endParaRPr sz="1200" b="1">
              <a:solidFill>
                <a:srgbClr val="8FC0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18120" y="2377440"/>
            <a:ext cx="3511296" cy="12023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4000"/>
              </a:lnSpc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镜头动，必须“有理由”。
没有理由的晃动，
只会让观众头晕。</a:t>
            </a:r>
            <a:endParaRPr sz="15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" y="4334256"/>
            <a:ext cx="10911810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运镜对 Vlog 的三个作用</a:t>
            </a:r>
            <a:endParaRPr sz="155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" y="4736592"/>
            <a:ext cx="3502152" cy="1225296"/>
          </a:xfrm>
          <a:prstGeom prst="roundRect">
            <a:avLst>
              <a:gd name="adj" fmla="val 671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901184"/>
            <a:ext cx="45720" cy="896112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846320"/>
            <a:ext cx="313639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交代空间</a:t>
            </a:r>
            <a:endParaRPr sz="155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7824" y="5193792"/>
            <a:ext cx="3136392" cy="7517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40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一个横摇或升降，
比十个静止镜头更能说明
“我在哪”</a:t>
            </a:r>
            <a:endParaRPr sz="105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52544" y="4736592"/>
            <a:ext cx="3502152" cy="1225296"/>
          </a:xfrm>
          <a:prstGeom prst="roundRect">
            <a:avLst>
              <a:gd name="adj" fmla="val 671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52544" y="4901184"/>
            <a:ext cx="45720" cy="896112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846320"/>
            <a:ext cx="313639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传递情绪</a:t>
            </a:r>
            <a:endParaRPr sz="155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0" y="5193792"/>
            <a:ext cx="3136392" cy="7517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40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推近 = 进入内心
拉远 = 抽离与告别
手持晃动 = 真实、紧张</a:t>
            </a:r>
            <a:endParaRPr sz="105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046720" y="4736592"/>
            <a:ext cx="3502152" cy="1225296"/>
          </a:xfrm>
          <a:prstGeom prst="roundRect">
            <a:avLst>
              <a:gd name="adj" fmla="val 671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4901184"/>
            <a:ext cx="45720" cy="896112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66176" y="4846320"/>
            <a:ext cx="313639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连接镜头</a:t>
            </a:r>
            <a:endParaRPr sz="155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66176" y="5193792"/>
            <a:ext cx="3136392" cy="7517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40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甩镜、遮挡、跟随
让两个镜头自然接起来，
替代生硬的硬切</a:t>
            </a:r>
            <a:endParaRPr sz="105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 · 02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先学会“不动”，再学运镜</a:t>
            </a:r>
            <a:endParaRPr sz="27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新手最容易犯的错：全程都在动。运镜是调味料，不是主食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拍摄教程 · 第二课　Vlog 运镜入门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1847088"/>
            <a:ext cx="5349240" cy="2377440"/>
          </a:xfrm>
          <a:prstGeom prst="roundRect">
            <a:avLst>
              <a:gd name="adj" fmla="val 3846"/>
            </a:avLst>
          </a:prstGeom>
          <a:solidFill>
            <a:srgbClr val="E8F4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488289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固定镜头（不动）</a:t>
            </a:r>
            <a:endParaRPr sz="1550" b="1">
              <a:solidFill>
                <a:srgbClr val="2E8B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964692" y="2482596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2414016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画面最稳，观众看得清细节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964692" y="2810256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2741676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适合口播、吃饭、看手机等动作本身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64692" y="3137916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3069336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剪辑时最好用，随便剪都不出错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64692" y="3465576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3396996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建议：一条片子里固定镜头不少于一半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19088" y="1847088"/>
            <a:ext cx="5111496" cy="2377440"/>
          </a:xfrm>
          <a:prstGeom prst="roundRect">
            <a:avLst>
              <a:gd name="adj" fmla="val 3846"/>
            </a:avLst>
          </a:prstGeom>
          <a:solidFill>
            <a:srgbClr val="FBED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011680"/>
            <a:ext cx="460857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C04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运镜（动）</a:t>
            </a:r>
            <a:endParaRPr sz="1550" b="1">
              <a:solidFill>
                <a:srgbClr val="C04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725412" y="2482596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94576" y="2414016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交代空间、转换场景、制造情绪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725412" y="2810256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94576" y="2741676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一个镜头只做一个动作，别贪心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6725412" y="3137916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94576" y="3069336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起幅与落幅各停 1 秒，方便剪辑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25412" y="3465576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94576" y="3396996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建议：每次运镜控制在 3~6 秒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58368" y="4443984"/>
            <a:ext cx="10875234" cy="1517904"/>
          </a:xfrm>
          <a:prstGeom prst="roundRect">
            <a:avLst>
              <a:gd name="adj" fmla="val 6024"/>
            </a:avLst>
          </a:prstGeom>
          <a:solidFill>
            <a:srgbClr val="EA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443984"/>
            <a:ext cx="64008" cy="151790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4608576"/>
            <a:ext cx="10271730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黄金比例：动 4 静 6</a:t>
            </a:r>
            <a:endParaRPr sz="155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50976" y="4992624"/>
            <a:ext cx="10271730" cy="35097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 60 秒的 Vlog，运镜镜头大约 4~5 个、每个 3~6 秒，其余用固定镜头承托。全程晃动的片子，观众 10 秒就会划走。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地基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五种稳定方式，先选对装备</a:t>
            </a:r>
            <a:endParaRPr sz="27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稳定性与机动性永远互相牵制：越稳的器材，越不方便边走边拍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拍摄教程 · 第二课　Vlog 运镜入门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3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912"/>
                <a:gridCol w="1285255"/>
                <a:gridCol w="1285255"/>
                <a:gridCol w="4547825"/>
                <a:gridCol w="1482986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稳定方式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稳定性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机动性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适合拍什么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成本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手持裸拍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★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★★★★★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抓拍、情绪化瞬间、快节奏段落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 元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手持 + 屈膝走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★★★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★★★★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日常 Vlog 主体内容（练好就够用）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 元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手机云台 / 稳定器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★★★★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★★★★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边走边拍、跟随、环绕、运动镜头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200~800 元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三脚架 / 独脚架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★★★★★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★★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口播、访谈、固定机位、延时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50~300 元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滑轨 / 航拍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★★★★★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★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专业平移、大范围升降与俯拍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千元起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212080"/>
            <a:ext cx="10875234" cy="768096"/>
          </a:xfrm>
          <a:prstGeom prst="roundRect">
            <a:avLst>
              <a:gd name="adj" fmla="val 9523"/>
            </a:avLst>
          </a:prstGeom>
          <a:solidFill>
            <a:srgbClr val="FDEE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5212080"/>
            <a:ext cx="64008" cy="768096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212080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新手配置：手机 + 一个手机云台就够。先用手持练稳 3 个月，再考虑加设备——稳不稳，七分靠身体，三分靠器材。</a:t>
            </a:r>
            <a:endParaRPr sz="1200" b="1">
              <a:solidFill>
                <a:srgbClr val="0E3A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0E3A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2148840"/>
            <a:ext cx="3694176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7200" b="1">
                <a:solidFill>
                  <a:srgbClr val="2E6F8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7200" b="1">
              <a:solidFill>
                <a:srgbClr val="2E6F8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" y="3310128"/>
            <a:ext cx="8814816" cy="735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七种基础运镜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" y="4160520"/>
            <a:ext cx="8631936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0">
                <a:solidFill>
                  <a:srgbClr val="A8C2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 · 拉 · 摇 · 移 · 跟 · 升降 · 环绕</a:t>
            </a:r>
            <a:endParaRPr sz="1900" b="0">
              <a:solidFill>
                <a:srgbClr val="A8C2D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024128" y="4892040"/>
            <a:ext cx="3474720" cy="0"/>
          </a:xfrm>
          <a:prstGeom prst="line">
            <a:avLst/>
          </a:prstGeom>
          <a:ln w="31750">
            <a:solidFill>
              <a:srgbClr val="E88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7FA0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00" b="0">
              <a:solidFill>
                <a:srgbClr val="7FA0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技巧 1 / 7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推镜：让观众“走近”主体</a:t>
            </a:r>
            <a:endParaRPr sz="27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机位向主体靠近，景别由大变小 —— 最会表达“注意这里”的运镜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拍摄教程 · 第二课　Vlog 运镜入门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Picture 10" descr="s06_09_570x36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29968"/>
            <a:ext cx="5212080" cy="3310128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6071616" y="2029968"/>
            <a:ext cx="5461986" cy="1700784"/>
          </a:xfrm>
          <a:prstGeom prst="roundRect">
            <a:avLst>
              <a:gd name="adj" fmla="val 537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212848"/>
            <a:ext cx="5023074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怎么拍</a:t>
            </a:r>
            <a:endParaRPr sz="155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359652" y="266547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2596896"/>
            <a:ext cx="480361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手持：屈膝，重心下降，小步前移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359652" y="297484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906268"/>
            <a:ext cx="480361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云台：用摇杆匀速推，不要用手拉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359652" y="328422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3215640"/>
            <a:ext cx="480361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速度：3~5 秒推完，越慢越有情绪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071616" y="3877056"/>
            <a:ext cx="5461986" cy="1463040"/>
          </a:xfrm>
          <a:prstGeom prst="roundRect">
            <a:avLst>
              <a:gd name="adj" fmla="val 6250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041648"/>
            <a:ext cx="5023074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什么时候用</a:t>
            </a:r>
            <a:endParaRPr sz="1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359652" y="449427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4425696"/>
            <a:ext cx="480361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DCEA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强调细节：食物、表情、手上动作</a:t>
            </a:r>
            <a:endParaRPr sz="1200" b="0">
              <a:solidFill>
                <a:srgbClr val="DCEA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359652" y="480364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4735068"/>
            <a:ext cx="480361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DCEA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对话关键句，把观众注意力拉回来</a:t>
            </a:r>
            <a:endParaRPr sz="1200" b="0">
              <a:solidFill>
                <a:srgbClr val="DCEA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8368" y="5504688"/>
            <a:ext cx="1091181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实拍示例：由远到近，三层信息递进</a:t>
            </a:r>
            <a:endParaRPr sz="1050" b="1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Picture 26" descr="s06_25_383x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742432"/>
            <a:ext cx="3503158" cy="475488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28" name="Rectangle 27"/>
          <p:cNvSpPr/>
          <p:nvPr/>
        </p:nvSpPr>
        <p:spPr>
          <a:xfrm>
            <a:off x="658368" y="5742432"/>
            <a:ext cx="1234440" cy="219456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742432"/>
            <a:ext cx="11795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远景：交代地点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Picture 29" descr="s06_28_383x5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4406" y="5742432"/>
            <a:ext cx="3503158" cy="475488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31" name="Rectangle 30"/>
          <p:cNvSpPr/>
          <p:nvPr/>
        </p:nvSpPr>
        <p:spPr>
          <a:xfrm>
            <a:off x="4344406" y="5742432"/>
            <a:ext cx="1234440" cy="219456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5846" y="5742432"/>
            <a:ext cx="11795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中景：看到行为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Picture 32" descr="s06_31_383x5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444" y="5742432"/>
            <a:ext cx="3503158" cy="475488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34" name="Rectangle 33"/>
          <p:cNvSpPr/>
          <p:nvPr/>
        </p:nvSpPr>
        <p:spPr>
          <a:xfrm>
            <a:off x="8030444" y="5742432"/>
            <a:ext cx="1234440" cy="219456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21884" y="5742432"/>
            <a:ext cx="11795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特写：进入情绪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技巧 1 / 7 · 反向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拉镜：把主体“放回”环境里</a:t>
            </a:r>
            <a:endParaRPr sz="27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机位远离主体，景别由小变大 —— 最适合结尾、告别、留白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拍摄教程 · 第二课　Vlog 运镜入门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1792224"/>
            <a:ext cx="5349240" cy="3968496"/>
          </a:xfrm>
          <a:prstGeom prst="roundRect">
            <a:avLst>
              <a:gd name="adj" fmla="val 2304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s07_10_529x18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48256"/>
            <a:ext cx="4837176" cy="169164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914400" y="3877056"/>
            <a:ext cx="4873752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拉镜轨迹：机位后退，画面信息由少变多</a:t>
            </a:r>
            <a:endParaRPr sz="105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59536" y="4261104"/>
            <a:ext cx="4946904" cy="1316736"/>
          </a:xfrm>
          <a:prstGeom prst="roundRect">
            <a:avLst>
              <a:gd name="adj" fmla="val 5555"/>
            </a:avLst>
          </a:prstGeom>
          <a:solidFill>
            <a:srgbClr val="FDEE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4407408"/>
            <a:ext cx="4617720" cy="9432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4000"/>
              </a:lnSpc>
              <a:spcAft>
                <a:spcPts val="0"/>
              </a:spcAft>
            </a:pPr>
            <a:r>
              <a:rPr sz="1200" b="1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拉镜的两种玩法：
① 真拉：机位后退，环境不断进入画面。
② 变焦拉：机位不动，镜头焦距变小。</a:t>
            </a:r>
            <a:endParaRPr sz="1200" b="1">
              <a:solidFill>
                <a:srgbClr val="0E3A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19088" y="1792224"/>
            <a:ext cx="5111496" cy="1883664"/>
          </a:xfrm>
          <a:prstGeom prst="roundRect">
            <a:avLst>
              <a:gd name="adj" fmla="val 4854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1956816"/>
            <a:ext cx="4672584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真拉 vs 变焦拉</a:t>
            </a:r>
            <a:endParaRPr sz="155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707124" y="240944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6288" y="2340864"/>
            <a:ext cx="445312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真拉：有透视变化，空间感强，推荐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707124" y="271881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50236"/>
            <a:ext cx="445312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变焦拉：只是画面变大，背景不变，容易假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19088" y="3840480"/>
            <a:ext cx="5111496" cy="1920240"/>
          </a:xfrm>
          <a:prstGeom prst="roundRect">
            <a:avLst>
              <a:gd name="adj" fmla="val 4761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4005072"/>
            <a:ext cx="4672584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什么时候用</a:t>
            </a:r>
            <a:endParaRPr sz="1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707124" y="445770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4389120"/>
            <a:ext cx="445312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DCEA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视频结尾：从人拉到全景，加结束语</a:t>
            </a:r>
            <a:endParaRPr sz="1200" b="0">
              <a:solidFill>
                <a:srgbClr val="DCEA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707124" y="477621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707636"/>
            <a:ext cx="445312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DCEA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转场：拉到全景再切下一个场景</a:t>
            </a:r>
            <a:endParaRPr sz="1200" b="0">
              <a:solidFill>
                <a:srgbClr val="DCEA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707124" y="509473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5026152"/>
            <a:ext cx="445312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DCEA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揭示：先拍局部，拉出来才看清全貌</a:t>
            </a:r>
            <a:endParaRPr sz="1200" b="0">
              <a:solidFill>
                <a:srgbClr val="DCEA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技巧 2 / 7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摇镜：最省力，也最容易拍糊</a:t>
            </a:r>
            <a:endParaRPr sz="27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机位不动，只转动镜头 —— 用一次转动交代整个空间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拍摄教程 · 第二课　Vlog 运镜入门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Picture 10" descr="s08_09_570x36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29968"/>
            <a:ext cx="5212080" cy="3310128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6071616" y="2029968"/>
            <a:ext cx="5461986" cy="1956816"/>
          </a:xfrm>
          <a:prstGeom prst="roundRect">
            <a:avLst>
              <a:gd name="adj" fmla="val 4672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212848"/>
            <a:ext cx="5023074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三个关键动作</a:t>
            </a:r>
            <a:endParaRPr sz="155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359652" y="266547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2596896"/>
            <a:ext cx="480361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起幅：先静止 1 秒，让人看清起点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359652" y="297484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906268"/>
            <a:ext cx="480361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转动：匀速，用腰带动身体，别用手腕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359652" y="328422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8816" y="3215640"/>
            <a:ext cx="480361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落幅：再静止 1 秒，稳稳停住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071616" y="4133088"/>
            <a:ext cx="5461986" cy="1207008"/>
          </a:xfrm>
          <a:prstGeom prst="roundRect">
            <a:avLst>
              <a:gd name="adj" fmla="val 7575"/>
            </a:avLst>
          </a:prstGeom>
          <a:solidFill>
            <a:srgbClr val="FBED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297680"/>
            <a:ext cx="5023074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C045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最容易犯的错</a:t>
            </a:r>
            <a:endParaRPr sz="1550" b="1">
              <a:solidFill>
                <a:srgbClr val="C045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359652" y="4732020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4663440"/>
            <a:ext cx="480361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速度忽快忽慢 → 观众头晕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359652" y="5032248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4963668"/>
            <a:ext cx="480361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摇完不定住 → 剪辑时找不到落点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58368" y="5504688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EA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5504688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504688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练习方法：手端手机，盯住远处一个点，匀速从左摇到右，再原路摇回；每天 10 次，一周就能明显变稳。</a:t>
            </a:r>
            <a:endParaRPr sz="1200" b="1">
              <a:solidFill>
                <a:srgbClr val="0E3A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技巧 3 / 7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移镜：空间感最强的运镜</a:t>
            </a:r>
            <a:endParaRPr sz="27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机位横向平移，前后景产生相对位移，观众立刻感到“立体”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拍摄教程 · 第二课　Vlog 运镜入门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Picture 10" descr="s09_09_570x36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29968"/>
            <a:ext cx="5212080" cy="3310128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6071616" y="2029968"/>
            <a:ext cx="5461986" cy="1572768"/>
          </a:xfrm>
          <a:prstGeom prst="roundRect">
            <a:avLst>
              <a:gd name="adj" fmla="val 5813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194560"/>
            <a:ext cx="5023074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为什么有立体感</a:t>
            </a:r>
            <a:endParaRPr sz="1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09360" y="2578608"/>
            <a:ext cx="5023074" cy="6266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8000"/>
              </a:lnSpc>
              <a:spcAft>
                <a:spcPts val="0"/>
              </a:spcAft>
            </a:pPr>
            <a:r>
              <a:rPr sz="1200" b="0">
                <a:solidFill>
                  <a:srgbClr val="DCEA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近处物体在画面中移动快，远处移动慢。
这种“速度差”就是人眼判断纵深的依据。</a:t>
            </a:r>
            <a:endParaRPr sz="1200" b="0">
              <a:solidFill>
                <a:srgbClr val="DCEA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71616" y="3749040"/>
            <a:ext cx="5461986" cy="1591056"/>
          </a:xfrm>
          <a:prstGeom prst="roundRect">
            <a:avLst>
              <a:gd name="adj" fmla="val 5747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913632"/>
            <a:ext cx="5023074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Vlog 里的三种用法</a:t>
            </a:r>
            <a:endParaRPr sz="155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359652" y="436626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4297680"/>
            <a:ext cx="480361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路过式：边走边平移，扫过店铺与街景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359652" y="466648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816" y="4597908"/>
            <a:ext cx="480361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展示式：从桌左移到桌右，交代一桌菜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6359652" y="496671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6" y="4898136"/>
            <a:ext cx="480361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转场式：从墙的一侧移到另一侧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" y="5504688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EA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504688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5504688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要点：移镜时镜头始终朝向主体，身体先动、脚步跟着；不要只用手臂把手机“端出去”。</a:t>
            </a:r>
            <a:endParaRPr sz="1200" b="1">
              <a:solidFill>
                <a:srgbClr val="0E3A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技巧 4 / 7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跟随拍摄：Vlog 的灵魂镜头</a:t>
            </a:r>
            <a:endParaRPr sz="27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镜头与主体一起移动，观众跟着你一起走 —— 代入感最强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拍摄教程 · 第二课　Vlog 运镜入门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Picture 10" descr="s10_09_750x27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20240"/>
            <a:ext cx="6858000" cy="246888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717536" y="1920240"/>
            <a:ext cx="385264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四种跟随角度</a:t>
            </a:r>
            <a:endParaRPr sz="155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17536" y="2304288"/>
            <a:ext cx="3816066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04288"/>
            <a:ext cx="133502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身后跟随</a:t>
            </a:r>
            <a:endParaRPr sz="105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217152" y="2304288"/>
            <a:ext cx="2225010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第一视角，代入感最强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17536" y="2816352"/>
            <a:ext cx="3816066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816352"/>
            <a:ext cx="133502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侧后方跟随</a:t>
            </a:r>
            <a:endParaRPr sz="105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217152" y="2816352"/>
            <a:ext cx="2225010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能看到人也能看到环境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717536" y="3328416"/>
            <a:ext cx="3816066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3328416"/>
            <a:ext cx="133502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侧面平行跟随</a:t>
            </a:r>
            <a:endParaRPr sz="105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17152" y="3328416"/>
            <a:ext cx="2225010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像电影里的平行镜头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17536" y="3840480"/>
            <a:ext cx="3816066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3840480"/>
            <a:ext cx="133502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正面后退跟随</a:t>
            </a:r>
            <a:endParaRPr sz="105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17152" y="3840480"/>
            <a:ext cx="2225010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边走边说话，口播常用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58368" y="4572000"/>
            <a:ext cx="10875234" cy="768096"/>
          </a:xfrm>
          <a:prstGeom prst="roundRect">
            <a:avLst>
              <a:gd name="adj" fmla="val 9523"/>
            </a:avLst>
          </a:prstGeom>
          <a:solidFill>
            <a:srgbClr val="FBED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572000"/>
            <a:ext cx="64008" cy="768096"/>
          </a:xfrm>
          <a:prstGeom prst="rect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572000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8C32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三个坑：① 正后方跟拍容易看不见脸；② 后退跟随要有人帮你看路；③ 跟太近，主体一出画就废了。</a:t>
            </a:r>
            <a:endParaRPr sz="1200" b="1">
              <a:solidFill>
                <a:srgbClr val="8C322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58368" y="5468112"/>
            <a:ext cx="10875234" cy="822960"/>
          </a:xfrm>
          <a:prstGeom prst="roundRect">
            <a:avLst>
              <a:gd name="adj" fmla="val 8888"/>
            </a:avLst>
          </a:prstGeom>
          <a:solidFill>
            <a:srgbClr val="EA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468112"/>
            <a:ext cx="64008" cy="82296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468112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距离参考：手机广角下，人物保持在画面高度的 1/2~2/3，距离约 1~1.5 米；留出前方空间，不要把人压在画面边缘。</a:t>
            </a:r>
            <a:endParaRPr sz="1200" b="1">
              <a:solidFill>
                <a:srgbClr val="0E3A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技巧 5 / 7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升降：用高度讲故事</a:t>
            </a:r>
            <a:endParaRPr sz="27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机位垂直升降，视角一变，气势和情绪就跟着变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拍摄教程 · 第二课　Vlog 运镜入门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Picture 10" descr="s11_09_570x24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29968"/>
            <a:ext cx="5212080" cy="2212848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71616" y="2029968"/>
          <a:ext cx="546198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722"/>
                <a:gridCol w="2448476"/>
                <a:gridCol w="2071788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方向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画面变化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情绪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升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视角变高、视野变开阔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宏大、开阔、收尾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降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视角变低、贴近地面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亲切、紧张、进入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071616" y="3675888"/>
            <a:ext cx="5461986" cy="1664208"/>
          </a:xfrm>
          <a:prstGeom prst="roundRect">
            <a:avLst>
              <a:gd name="adj" fmla="val 5494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840480"/>
            <a:ext cx="5023074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不用航拍也能做升降</a:t>
            </a:r>
            <a:endParaRPr sz="155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359652" y="429310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4224528"/>
            <a:ext cx="480361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匀速下蹲 / 站起，膝盖发力不要弯腰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359652" y="460248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4533900"/>
            <a:ext cx="480361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稳定器举高过头顶再缓慢放下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359652" y="491185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816" y="4843272"/>
            <a:ext cx="480361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电梯、楼梯、天桥都是天然升降台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" y="4352544"/>
            <a:ext cx="5248656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升降轨迹与等效做法</a:t>
            </a:r>
            <a:endParaRPr sz="1050" b="1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58368" y="4645152"/>
            <a:ext cx="5212080" cy="1005840"/>
          </a:xfrm>
          <a:prstGeom prst="roundRect">
            <a:avLst>
              <a:gd name="adj" fmla="val 7272"/>
            </a:avLst>
          </a:prstGeom>
          <a:solidFill>
            <a:srgbClr val="EA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645152"/>
            <a:ext cx="64008" cy="100584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54880"/>
            <a:ext cx="4754880" cy="6266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8000"/>
              </a:lnSpc>
              <a:spcAft>
                <a:spcPts val="0"/>
              </a:spcAft>
            </a:pPr>
            <a:r>
              <a:rPr sz="1200" b="1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手机也能做升降：屈膝匀速下蹲 / 站起，
或用稳定器举高再缓慢放下，画面同样有气势。</a:t>
            </a:r>
            <a:endParaRPr sz="1200" b="1">
              <a:solidFill>
                <a:srgbClr val="0E3A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58368" y="5504688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FDEE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5504688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504688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一句话口诀：升要慢、降要稳，一次只做一个动作——边升边摇、边跑边转，观众一定晕。</a:t>
            </a:r>
            <a:endParaRPr sz="1200" b="1">
              <a:solidFill>
                <a:srgbClr val="0E3A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技巧 6 / 7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环绕：让背景流动起来</a:t>
            </a:r>
            <a:endParaRPr sz="27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绕主体走弧线，主体位置不变、背景持续流动，最出片的运镜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拍摄教程 · 第二课　Vlog 运镜入门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Picture 10" descr="s12_09_570x36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29968"/>
            <a:ext cx="5212080" cy="3310128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6071616" y="2029968"/>
            <a:ext cx="5461986" cy="1847088"/>
          </a:xfrm>
          <a:prstGeom prst="roundRect">
            <a:avLst>
              <a:gd name="adj" fmla="val 4950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194560"/>
            <a:ext cx="5023074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环绕的两种用法</a:t>
            </a:r>
            <a:endParaRPr sz="1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359652" y="264718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2578608"/>
            <a:ext cx="480361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DCEA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半环绕（90°~180°）：最稳，最常用</a:t>
            </a:r>
            <a:endParaRPr sz="1200" b="0">
              <a:solidFill>
                <a:srgbClr val="DCEA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359652" y="296570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897124"/>
            <a:ext cx="480361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DCEAF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全环绕（360°）：需要云台，注意别穿帮</a:t>
            </a:r>
            <a:endParaRPr sz="1200" b="0">
              <a:solidFill>
                <a:srgbClr val="DCEAF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071616" y="4023360"/>
            <a:ext cx="5461986" cy="1316736"/>
          </a:xfrm>
          <a:prstGeom prst="roundRect">
            <a:avLst>
              <a:gd name="adj" fmla="val 6944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187952"/>
            <a:ext cx="5023074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拍摄要点</a:t>
            </a:r>
            <a:endParaRPr sz="155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359652" y="464058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8816" y="4572000"/>
            <a:ext cx="480361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以主体为圆心，半径保持不变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359652" y="494080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4872228"/>
            <a:ext cx="480361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脚步小、速度匀，重心压低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8368" y="5504688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EA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5504688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5504688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适合场景：人物出场、产品展示、探店招牌、合影——任何“主体不动、环境好看”的地方都值得环绕一圈。</a:t>
            </a:r>
            <a:endParaRPr sz="1200" b="1">
              <a:solidFill>
                <a:srgbClr val="0E3A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技巧 7 / 7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甩镜与变焦：两个“取巧”但好用的运镜</a:t>
            </a:r>
            <a:endParaRPr sz="27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它们不需要稳定器，靠速度和遮挡就能做出干净利落的转场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拍摄教程 · 第二课　Vlog 运镜入门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1920240"/>
            <a:ext cx="5349240" cy="237744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920240"/>
            <a:ext cx="5349240" cy="82296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103120"/>
            <a:ext cx="4873752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甩镜（Whip Pan）</a:t>
            </a:r>
            <a:endParaRPr sz="190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2523744"/>
            <a:ext cx="4873752" cy="34076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8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快速横向甩动镜头，中间画面糊掉，用来隐藏剪切点。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964692" y="301294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2944368"/>
            <a:ext cx="465429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起幅稳定 0.5 秒 → 快速甩 → 落幅稳定 0.5 秒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64692" y="332232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3253740"/>
            <a:ext cx="465429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两段朝同一个方向甩，剪辑时剪掉中间糊的部分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64692" y="363169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3563112"/>
            <a:ext cx="465429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甩镜不看构图，看“方向一致”和“速度够快”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19088" y="1920240"/>
            <a:ext cx="5111496" cy="237744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19088" y="1920240"/>
            <a:ext cx="5111496" cy="82296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103120"/>
            <a:ext cx="463600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变焦推拉（Zoom）</a:t>
            </a:r>
            <a:endParaRPr sz="190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75120" y="2523744"/>
            <a:ext cx="4636008" cy="34076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8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机位不动，只改变焦距：画面变大，但没有透视变化。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725412" y="3012948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94576" y="2944368"/>
            <a:ext cx="44165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优点：快、省地方，适合抓拍远处细节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6725412" y="332232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94576" y="3253740"/>
            <a:ext cx="44165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缺点：背景不变化，连续变焦会显得“假”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725412" y="363169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94576" y="3563112"/>
            <a:ext cx="441655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建议：一次变焦不超过 2 秒，或干脆用“走位”代替</a:t>
            </a:r>
            <a:endParaRPr sz="12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Picture 30" descr="s13_29_382x12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517136"/>
            <a:ext cx="3497062" cy="1170432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32" name="Rectangle 31"/>
          <p:cNvSpPr/>
          <p:nvPr/>
        </p:nvSpPr>
        <p:spPr>
          <a:xfrm>
            <a:off x="658368" y="4517136"/>
            <a:ext cx="54864" cy="1170432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5504688"/>
            <a:ext cx="3497062" cy="274320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5504688"/>
            <a:ext cx="3277606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甩镜：车流光轨般的运动感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" name="Picture 34" descr="s13_33_382x1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454" y="4517136"/>
            <a:ext cx="3497062" cy="1170432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36" name="Rectangle 35"/>
          <p:cNvSpPr/>
          <p:nvPr/>
        </p:nvSpPr>
        <p:spPr>
          <a:xfrm>
            <a:off x="4347454" y="4517136"/>
            <a:ext cx="54864" cy="1170432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47454" y="5504688"/>
            <a:ext cx="3497062" cy="274320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75470" y="5504688"/>
            <a:ext cx="3277606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变焦：长焦压缩，主体被“拉近”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" name="Picture 38" descr="s13_37_382x1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540" y="4517136"/>
            <a:ext cx="3497062" cy="1170432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40" name="Rectangle 39"/>
          <p:cNvSpPr/>
          <p:nvPr/>
        </p:nvSpPr>
        <p:spPr>
          <a:xfrm>
            <a:off x="8036540" y="4517136"/>
            <a:ext cx="54864" cy="1170432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6540" y="5504688"/>
            <a:ext cx="3497062" cy="274320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64556" y="5504688"/>
            <a:ext cx="3277606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走位：用脚步靠近，透视更真实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58368" y="5943600"/>
            <a:ext cx="1091181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结论：能用“走位”就别用“变焦”——观众感受得到你是不是真的走过去。</a:t>
            </a:r>
            <a:endParaRPr sz="120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七种运镜速查表</a:t>
            </a:r>
            <a:endParaRPr sz="27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按“想表达什么”来选运镜，而不是按器材选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拍摄教程 · 第二课　Vlog 运镜入门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4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605"/>
                <a:gridCol w="1553605"/>
                <a:gridCol w="1279439"/>
                <a:gridCol w="2924433"/>
                <a:gridCol w="3564152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运镜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机位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镜头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画面效果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最适合的场景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推（推近）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向前移动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朝向主体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景别变大，注意力集中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强调细节、关键对话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拉（拉远）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向后移动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朝向主体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环境进入，抽离感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结尾、告别、揭示全貌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摇（横/纵摇）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不动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转动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扫过空间，交代环境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展示房间、街景、建筑高度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移（平移）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平行横移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朝向主体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前后景错位，立体感强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路过店铺、展示桌面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跟随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跟随主体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朝向主体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代入感强，像观众自己在走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走路 vlog、探店、旅行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升降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垂直上下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朝向主体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视角变化，气势改变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开场、结尾、航拍替代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环绕 / 甩镜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绕行 / 快速甩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转动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背景流动 / 转场衔接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人物出场、转场、产品展示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40080" y="5408676"/>
            <a:ext cx="10875234" cy="841248"/>
          </a:xfrm>
          <a:prstGeom prst="roundRect">
            <a:avLst>
              <a:gd name="adj" fmla="val 8695"/>
            </a:avLst>
          </a:prstGeom>
          <a:solidFill>
            <a:srgbClr val="EA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5226" y="5394961"/>
            <a:ext cx="64008" cy="841248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440680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 dirty="0" err="1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记不住没关系，先记住这</a:t>
            </a:r>
            <a:r>
              <a:rPr sz="1200" b="1" dirty="0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sz="1200" b="1" dirty="0" err="1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个：推、摇、移、跟随。它们覆盖了</a:t>
            </a:r>
            <a:r>
              <a:rPr sz="1200" b="1" dirty="0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Vlog 里 80% </a:t>
            </a:r>
            <a:r>
              <a:rPr sz="1200" b="1" dirty="0" err="1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的运镜需求</a:t>
            </a:r>
            <a:r>
              <a:rPr sz="1200" b="1" dirty="0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 b="1" dirty="0">
              <a:solidFill>
                <a:srgbClr val="0E3A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核心方法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运镜语法：起幅 · 过程 · 落幅</a:t>
            </a:r>
            <a:endParaRPr sz="27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任何一次运镜都由三段组成，缺一段就会“不好剪”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拍摄教程 · 第二课　Vlog 运镜入门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1828800"/>
            <a:ext cx="350215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828800"/>
            <a:ext cx="3502152" cy="91440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48256"/>
            <a:ext cx="1316736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起幅</a:t>
            </a:r>
            <a:endParaRPr sz="190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88920" y="2103120"/>
            <a:ext cx="1133856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D5DD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秒</a:t>
            </a:r>
            <a:endParaRPr sz="1900" b="1">
              <a:solidFill>
                <a:srgbClr val="D5DDE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2670048"/>
            <a:ext cx="3026664" cy="376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1000"/>
              </a:lnSpc>
              <a:spcAft>
                <a:spcPts val="0"/>
              </a:spcAft>
            </a:pPr>
            <a:r>
              <a:rPr sz="14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静止不动，画面稳定清晰</a:t>
            </a:r>
            <a:endParaRPr sz="14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914400" y="3364992"/>
            <a:ext cx="2990088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3547872"/>
            <a:ext cx="3026664" cy="3305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给剪辑留出“入点”，观众看清起点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Isosceles Triangle 17"/>
          <p:cNvSpPr/>
          <p:nvPr/>
        </p:nvSpPr>
        <p:spPr>
          <a:xfrm>
            <a:off x="4174236" y="3218688"/>
            <a:ext cx="164592" cy="237744"/>
          </a:xfrm>
          <a:prstGeom prst="triangle">
            <a:avLst/>
          </a:prstGeom>
          <a:solidFill>
            <a:srgbClr val="9FB0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52544" y="1828800"/>
            <a:ext cx="350215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52544" y="1828800"/>
            <a:ext cx="3502152" cy="9144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8576" y="2048256"/>
            <a:ext cx="1316736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</a:t>
            </a:r>
            <a:endParaRPr sz="190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83096" y="2103120"/>
            <a:ext cx="1133856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D5DD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3~6 秒</a:t>
            </a:r>
            <a:endParaRPr sz="1900" b="1">
              <a:solidFill>
                <a:srgbClr val="D5DDE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08576" y="2670048"/>
            <a:ext cx="3026664" cy="376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1000"/>
              </a:lnSpc>
              <a:spcAft>
                <a:spcPts val="0"/>
              </a:spcAft>
            </a:pPr>
            <a:r>
              <a:rPr sz="14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匀速完成一个动作</a:t>
            </a:r>
            <a:endParaRPr sz="14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4608576" y="3364992"/>
            <a:ext cx="2990088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08576" y="3547872"/>
            <a:ext cx="3026664" cy="3305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只做一个动作，速度保持恒定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Isosceles Triangle 25"/>
          <p:cNvSpPr/>
          <p:nvPr/>
        </p:nvSpPr>
        <p:spPr>
          <a:xfrm>
            <a:off x="7868412" y="3218688"/>
            <a:ext cx="164592" cy="237744"/>
          </a:xfrm>
          <a:prstGeom prst="triangle">
            <a:avLst/>
          </a:prstGeom>
          <a:solidFill>
            <a:srgbClr val="9FB0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0" y="1828800"/>
            <a:ext cx="350215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1828800"/>
            <a:ext cx="3502152" cy="91440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2048256"/>
            <a:ext cx="1316736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2E8B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落幅</a:t>
            </a:r>
            <a:endParaRPr sz="1900" b="1">
              <a:solidFill>
                <a:srgbClr val="2E8B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177272" y="2103120"/>
            <a:ext cx="1133856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D5DD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秒</a:t>
            </a:r>
            <a:endParaRPr sz="1900" b="1">
              <a:solidFill>
                <a:srgbClr val="D5DDE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02752" y="2670048"/>
            <a:ext cx="3026664" cy="376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1000"/>
              </a:lnSpc>
              <a:spcAft>
                <a:spcPts val="0"/>
              </a:spcAft>
            </a:pPr>
            <a:r>
              <a:rPr sz="1400" b="0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稳稳停住，不要急停晃动</a:t>
            </a:r>
            <a:endParaRPr sz="1400" b="0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8302752" y="3364992"/>
            <a:ext cx="2990088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02752" y="3547872"/>
            <a:ext cx="3026664" cy="3305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给剪辑留出“出点”，接下一个镜头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58368" y="5047488"/>
            <a:ext cx="10875234" cy="914400"/>
          </a:xfrm>
          <a:prstGeom prst="roundRect">
            <a:avLst>
              <a:gd name="adj" fmla="val 10000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" y="5047488"/>
            <a:ext cx="10326594" cy="293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为什么必须停？—— 只有起幅和落幅静止，剪辑时才有干净的入点与出点。全程都在动的素材，剪起来几乎没法用。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进阶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速度与节奏：慢是高级，快是情绪</a:t>
            </a:r>
            <a:endParaRPr sz="27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同样的运镜，速度快一点、慢一点，观感完全不同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拍摄教程 · 第二课　Vlog 运镜入门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4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0828"/>
                <a:gridCol w="2376101"/>
                <a:gridCol w="3107210"/>
                <a:gridCol w="4021095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速度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时长参考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观感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适合什么内容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慢速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 秒以上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安静、抒情、有电影感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风景空镜、结尾、情绪段落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中速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3~5 秒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自然、舒服，最通用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日常 Vlog、探店、走路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快速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1~2 秒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紧张、爽快、有冲击力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转场、卡点、快节奏剪辑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变速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前慢后快 / 前快后慢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有节奏，像“呼吸”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开场、高潮前的铺垫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010912"/>
            <a:ext cx="5349240" cy="950976"/>
          </a:xfrm>
          <a:prstGeom prst="roundRect">
            <a:avLst>
              <a:gd name="adj" fmla="val 7692"/>
            </a:avLst>
          </a:prstGeom>
          <a:solidFill>
            <a:srgbClr val="EA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5010912"/>
            <a:ext cx="64008" cy="950976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38928"/>
            <a:ext cx="4873752" cy="6266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8000"/>
              </a:lnSpc>
              <a:spcAft>
                <a:spcPts val="0"/>
              </a:spcAft>
            </a:pPr>
            <a:r>
              <a:rPr sz="1200" b="1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剪辑提速：把 6 秒的推镜剪成 2 秒，
画面立刻变利落。拍了慢的，才能剪出快的。</a:t>
            </a:r>
            <a:endParaRPr sz="1200" b="1">
              <a:solidFill>
                <a:srgbClr val="0E3A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19088" y="5010912"/>
            <a:ext cx="5111496" cy="950976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5138928"/>
            <a:ext cx="4672584" cy="6266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88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拍摄原则：宁可拍慢、拍长，
后期加速容易，凭空补拍不可能。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基本功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手持拍摄的稳定技巧</a:t>
            </a:r>
            <a:endParaRPr sz="27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不用买设备也能稳：姿势、发力、呼吸、走法，四点决定成败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拍摄教程 · 第二课　Vlog 运镜入门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1828800"/>
            <a:ext cx="3502152" cy="1883664"/>
          </a:xfrm>
          <a:prstGeom prst="roundRect">
            <a:avLst>
              <a:gd name="adj" fmla="val 4854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828800"/>
            <a:ext cx="54864" cy="1883664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029968"/>
            <a:ext cx="308152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三点支撑</a:t>
            </a:r>
            <a:endParaRPr sz="155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6112" y="2505456"/>
            <a:ext cx="30815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双肘夹紧肋部，手机靠近身体，
不要把手伸得远远的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52544" y="1828800"/>
            <a:ext cx="3502152" cy="1883664"/>
          </a:xfrm>
          <a:prstGeom prst="roundRect">
            <a:avLst>
              <a:gd name="adj" fmla="val 4854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1828800"/>
            <a:ext cx="54864" cy="188366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2029968"/>
            <a:ext cx="308152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屈膝不弯腰</a:t>
            </a:r>
            <a:endParaRPr sz="15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90288" y="2505456"/>
            <a:ext cx="30815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膝盖微屈当“减震器”，
上身保持竖直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046720" y="1828800"/>
            <a:ext cx="3502152" cy="1883664"/>
          </a:xfrm>
          <a:prstGeom prst="roundRect">
            <a:avLst>
              <a:gd name="adj" fmla="val 4854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828800"/>
            <a:ext cx="54864" cy="1883664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2029968"/>
            <a:ext cx="308152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脚跟先落地</a:t>
            </a:r>
            <a:endParaRPr sz="1550" b="1">
              <a:solidFill>
                <a:srgbClr val="2E8B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84464" y="2505456"/>
            <a:ext cx="30815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小步慢走，脚跟先着地再过渡到脚尖，
不要蹦跳式走路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" y="3913632"/>
            <a:ext cx="3502152" cy="1883664"/>
          </a:xfrm>
          <a:prstGeom prst="roundRect">
            <a:avLst>
              <a:gd name="adj" fmla="val 4854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913632"/>
            <a:ext cx="54864" cy="1883664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114800"/>
            <a:ext cx="308152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呼吸要平稳</a:t>
            </a:r>
            <a:endParaRPr sz="155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6112" y="4590288"/>
            <a:ext cx="30815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拍长镜头前先深吸一口气，
拍摄时缓慢呼气，不要憋气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52544" y="3913632"/>
            <a:ext cx="3502152" cy="1883664"/>
          </a:xfrm>
          <a:prstGeom prst="roundRect">
            <a:avLst>
              <a:gd name="adj" fmla="val 4854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52544" y="3913632"/>
            <a:ext cx="54864" cy="188366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4114800"/>
            <a:ext cx="308152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走动时别转腰</a:t>
            </a:r>
            <a:endParaRPr sz="15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90288" y="4590288"/>
            <a:ext cx="30815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身体当整体移动，
转向靠脚步而不是扭腰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046720" y="3913632"/>
            <a:ext cx="3502152" cy="1883664"/>
          </a:xfrm>
          <a:prstGeom prst="roundRect">
            <a:avLst>
              <a:gd name="adj" fmla="val 4854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3913632"/>
            <a:ext cx="54864" cy="1883664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84464" y="4114800"/>
            <a:ext cx="308152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长按录制键</a:t>
            </a:r>
            <a:endParaRPr sz="1550" b="1">
              <a:solidFill>
                <a:srgbClr val="2E8B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84464" y="4590288"/>
            <a:ext cx="30815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拍摄中不要用手去按屏幕，
所有设置提前调好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排雷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运镜常见错误自查</a:t>
            </a:r>
            <a:endParaRPr sz="27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拍完对照检查：中三条以上，这条片子大概要重拍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拍摄教程 · 第二课　Vlog 运镜入门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3" cy="3273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1052"/>
                <a:gridCol w="3273129"/>
                <a:gridCol w="3801052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✕ 错误做法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观众的感受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✓ 正确做法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全程都在动，没有静止镜头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头晕、累，看 10 秒就划走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动 4 静 6，固定镜头承托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一次运镜做了两个动作（边推边摇）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画面混乱，注意力被撕开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一个镜头只做一个动作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运镜速度忽快忽慢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明显不专业，像手滑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匀速，宁可慢也不要忽快忽慢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起幅落幅没有停留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剪辑时没有干净入点出点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首尾各静止 1 秒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走位时上下颠簸（蹦跳式走路）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像地震，非常廉价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屈膝小步，脚跟先落地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跟拍把人压在画面边缘或跟丢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主体出画，镜头失效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主体保持画面 1/2~2/3 高度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468112"/>
            <a:ext cx="10875234" cy="530352"/>
          </a:xfrm>
          <a:prstGeom prst="roundRect">
            <a:avLst>
              <a:gd name="adj" fmla="val 13793"/>
            </a:avLst>
          </a:prstGeom>
          <a:solidFill>
            <a:srgbClr val="FDEE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68112"/>
            <a:ext cx="1039974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记住一句话：观众不该注意到镜头在动，只该感觉到画面在流动。</a:t>
            </a:r>
            <a:endParaRPr sz="1200" b="1">
              <a:solidFill>
                <a:srgbClr val="0E3A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进阶实战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用运镜做转场：比硬切高级得多</a:t>
            </a:r>
            <a:endParaRPr sz="27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同一个运镜动作拍两遍，剪辑时就能无缝接起来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拍摄教程 · 第二课　Vlog 运镜入门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1810512"/>
            <a:ext cx="2615184" cy="3913632"/>
          </a:xfrm>
          <a:prstGeom prst="roundRect">
            <a:avLst>
              <a:gd name="adj" fmla="val 3496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1810512"/>
            <a:ext cx="2615184" cy="566928"/>
          </a:xfrm>
          <a:prstGeom prst="roundRect">
            <a:avLst>
              <a:gd name="adj" fmla="val 16129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157984"/>
            <a:ext cx="2615184" cy="219456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810512"/>
            <a:ext cx="2651760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甩镜转场</a:t>
            </a:r>
            <a:endParaRPr sz="1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9536" y="2560320"/>
            <a:ext cx="2249424" cy="924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 A 向右甩 → 场景 B 向右甩
剪掉中间糊的部分，两段接在一起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859536" y="4443984"/>
            <a:ext cx="2212848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59536" y="4626864"/>
            <a:ext cx="224942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要点：同一方向、同样速度</a:t>
            </a:r>
            <a:endParaRPr sz="105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415284" y="1810512"/>
            <a:ext cx="2615184" cy="3913632"/>
          </a:xfrm>
          <a:prstGeom prst="roundRect">
            <a:avLst>
              <a:gd name="adj" fmla="val 3496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15284" y="1810512"/>
            <a:ext cx="2615184" cy="566928"/>
          </a:xfrm>
          <a:prstGeom prst="roundRect">
            <a:avLst>
              <a:gd name="adj" fmla="val 16129"/>
            </a:avLst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15284" y="2157984"/>
            <a:ext cx="2615184" cy="219456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5284" y="1810512"/>
            <a:ext cx="2651760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遮挡转场</a:t>
            </a:r>
            <a:endParaRPr sz="1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16452" y="2560320"/>
            <a:ext cx="2249424" cy="12148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镜头被墙面、柱子、路人挡住 → 下一段
从遮挡物后面出来，观众以为是一次连续移动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3616452" y="4443984"/>
            <a:ext cx="2212848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16452" y="4626864"/>
            <a:ext cx="224942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要点：遮挡物要占满画面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172200" y="1810512"/>
            <a:ext cx="2615184" cy="3913632"/>
          </a:xfrm>
          <a:prstGeom prst="roundRect">
            <a:avLst>
              <a:gd name="adj" fmla="val 3496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72200" y="1810512"/>
            <a:ext cx="2615184" cy="566928"/>
          </a:xfrm>
          <a:prstGeom prst="roundRect">
            <a:avLst>
              <a:gd name="adj" fmla="val 16129"/>
            </a:avLst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2157984"/>
            <a:ext cx="2615184" cy="219456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1810512"/>
            <a:ext cx="2651760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跟随转场</a:t>
            </a:r>
            <a:endParaRPr sz="1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73368" y="2560320"/>
            <a:ext cx="2249424" cy="924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跟着人走进门 / 拐弯 → 切到
从另一侧继续跟随，空间自然延续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6373368" y="4443984"/>
            <a:ext cx="2212848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73368" y="4626864"/>
            <a:ext cx="224942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2E8B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要点：保持同样的跟随距离</a:t>
            </a:r>
            <a:endParaRPr sz="1050" b="1">
              <a:solidFill>
                <a:srgbClr val="2E8B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929116" y="1810512"/>
            <a:ext cx="2615184" cy="3913632"/>
          </a:xfrm>
          <a:prstGeom prst="roundRect">
            <a:avLst>
              <a:gd name="adj" fmla="val 3496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29116" y="1810512"/>
            <a:ext cx="2615184" cy="566928"/>
          </a:xfrm>
          <a:prstGeom prst="roundRect">
            <a:avLst>
              <a:gd name="adj" fmla="val 16129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29116" y="2157984"/>
            <a:ext cx="2615184" cy="219456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29116" y="1810512"/>
            <a:ext cx="2651760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升降转场</a:t>
            </a:r>
            <a:endParaRPr sz="1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130284" y="2560320"/>
            <a:ext cx="2249424" cy="924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镜头向下摇到地面 / 桌面 → 切到
另一场景由下往上摇起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9130284" y="4443984"/>
            <a:ext cx="2212848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30284" y="4626864"/>
            <a:ext cx="2249424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1450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要点：落点与起点要连贯</a:t>
            </a:r>
            <a:endParaRPr sz="1050" b="1">
              <a:solidFill>
                <a:srgbClr val="1450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8368" y="5870448"/>
            <a:ext cx="1091181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练习：同一个甩镜动作在两个不同房间各拍一条，试着剪在一起，感受转场的顺滑度。</a:t>
            </a:r>
            <a:endParaRPr sz="120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分镜表：一个 30 秒 Vlog 怎么排运镜</a:t>
            </a:r>
            <a:endParaRPr sz="27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按表拍摄，就不会出现“全是同一个角度”的问题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拍摄教程 · 第二课　Vlog 运镜入门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4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467"/>
                <a:gridCol w="921630"/>
                <a:gridCol w="1751097"/>
                <a:gridCol w="4055172"/>
                <a:gridCol w="3317868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镜头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时长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运镜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画面内容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作用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4s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升 + 推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从街口地面升起到招牌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开场交代地点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3s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跟随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侧后方跟着人物走进店门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带入感，进入场景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5s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固定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落座，人物出镜说话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信息主要靠这一段传达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4s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移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沿桌面从菜的一侧移到另一侧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展示细节，交代菜品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3s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推（特写）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推到筷子夹起食物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情绪高点，制造食欲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4s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摇 + 升降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从窗外摇回，再落到人物脸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把注意力交回人物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4s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拉 + 固定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从人物拉到全景，定格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收尾留白，接结束语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230368"/>
            <a:ext cx="10875234" cy="731520"/>
          </a:xfrm>
          <a:prstGeom prst="roundRect">
            <a:avLst>
              <a:gd name="adj" fmla="val 10000"/>
            </a:avLst>
          </a:prstGeom>
          <a:solidFill>
            <a:srgbClr val="EA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5230368"/>
            <a:ext cx="64008" cy="73152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230368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配比参考：固定镜头 1 个、运镜镜头 6 个，每个镜头只做一件事——这就是一条“好看又好剪”的 Vlog 结构。</a:t>
            </a:r>
            <a:endParaRPr sz="1200" b="1">
              <a:solidFill>
                <a:srgbClr val="0E3A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案例分析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案例拆解：15 秒城市夜游运镜设计</a:t>
            </a:r>
            <a:endParaRPr sz="27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一条短片的运镜，可以完全由“景别递进”来决定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拍摄教程 · 第二课　Vlog 运镜入门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Picture 10" descr="s21_09_585x26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92224"/>
            <a:ext cx="5349240" cy="237744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658368" y="1792224"/>
            <a:ext cx="5349240" cy="384048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1792224"/>
            <a:ext cx="5020056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开场：升镜 + 横摇，交代城市夜景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Picture 13" descr="s21_12_559x2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792224"/>
            <a:ext cx="5111496" cy="237744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6419088" y="1792224"/>
            <a:ext cx="5111496" cy="384048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1792224"/>
            <a:ext cx="4782312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中段：侧后方跟随，走进街巷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58368" y="4334256"/>
          <a:ext cx="10875233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1936"/>
                <a:gridCol w="2193324"/>
                <a:gridCol w="6579973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运镜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为什么这样选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0–3s 开场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升降 + 横摇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先把观众“放”进这座城市，交代环境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3–8s 进入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侧后方跟随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让观众跟着一起走，代入感最强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8–11s 亮点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环绕 + 推近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制造一个视觉高点，留住观众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11–15s 收尾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缓拉 + 定格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从细节退回到全景，留下余味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本课知识点总结</a:t>
            </a:r>
            <a:endParaRPr sz="27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种运镜 + 1 条语法 + 1 条铁律，够你拍完这个月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拍摄教程 · 第二课　Vlog 运镜入门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3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9159"/>
                <a:gridCol w="4112483"/>
                <a:gridCol w="4843591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知识点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一句话要点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最容易搞错的地方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 / 拉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靠近强调，远离抽离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用变焦代替走位，画面变“假”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摇镜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起幅落幅各停 1 秒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速度忽快忽慢，摇完不定住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移镜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平行移动，前后景错位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只用手臂平移，身体没跟上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跟随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保持距离，留出前方空间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跟太近或跟丢，主体出画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升降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一次只做一个动作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边升边摇，观众会晕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环绕 / 甩镜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半径不变 / 方向一致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环绕忽远忽近；甩镜速度不够快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运镜语法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起幅 — 过程 — 落幅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首尾不留静止时间，剪不动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速度节奏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宁可拍慢，后期再加速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拍得太快太短，后期没法用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468112"/>
            <a:ext cx="10875234" cy="548640"/>
          </a:xfrm>
          <a:prstGeom prst="roundRect">
            <a:avLst>
              <a:gd name="adj" fmla="val 13333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468112"/>
            <a:ext cx="10911810" cy="293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唯一铁律：观众不该注意到镜头在动，只该感觉到画面在流动。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475488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1050" b="1">
              <a:solidFill>
                <a:srgbClr val="E881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图片与版权说明</a:t>
            </a:r>
            <a:endParaRPr sz="2700" b="1">
              <a:solidFill>
                <a:srgbClr val="1F2A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58368" y="1417320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拍摄教程 · 第二课　Vlog 运镜入门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9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" y="1792224"/>
            <a:ext cx="10911810" cy="35097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本课件中的实拍示例图片来自公开网络，仅用于课堂教学演示；全部运镜示意图（机位轨迹、五稳对比、景别递进）为本课程自制。</a:t>
            </a:r>
            <a:endParaRPr sz="1200" b="0">
              <a:solidFill>
                <a:srgbClr val="5A667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2395728"/>
          <a:ext cx="10875233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547"/>
                <a:gridCol w="4203872"/>
                <a:gridCol w="4660814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用途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图片内容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来源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封面 / 全景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中国城市夜景与天际线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网络公开图片（教学演示）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推拉示例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城市远景、街景、人物特写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网络公开图片（教学演示）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摇镜 / 移镜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城市全景、走廊透视、市集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网络公开图片（教学演示）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跟随 / 环绕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街头行走、骑行、古建筑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网络公开图片（教学演示）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升降 / 夜景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航拍城市、古镇夜景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网络公开图片（教学演示）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运镜示意图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机位轨迹图、五种稳定对比图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本课程自制（可自由使用）</a:t>
                      </a:r>
                      <a:endParaRPr sz="1200" b="0">
                        <a:solidFill>
                          <a:srgbClr val="1F2A3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413248"/>
            <a:ext cx="10875234" cy="566928"/>
          </a:xfrm>
          <a:prstGeom prst="roundRect">
            <a:avLst>
              <a:gd name="adj" fmla="val 12903"/>
            </a:avLst>
          </a:prstGeom>
          <a:solidFill>
            <a:srgbClr val="FDEE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5413247"/>
            <a:ext cx="10363170" cy="5669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 dirty="0" err="1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如需商业用途，请替换为自有素材或已授权图片</a:t>
            </a:r>
            <a:r>
              <a:rPr sz="1200" b="1" dirty="0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sz="1200" b="1" dirty="0">
              <a:solidFill>
                <a:srgbClr val="0E3A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4000"/>
              </a:lnSpc>
            </a:pPr>
            <a:r>
              <a:rPr lang="zh-CN" altLang="en-US" sz="1200" b="1" dirty="0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本课程已在</a:t>
            </a:r>
            <a:r>
              <a:rPr lang="en-US" altLang="zh-CN" sz="1200" b="1" dirty="0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</a:t>
            </a:r>
            <a:r>
              <a:rPr lang="zh-CN" altLang="en-US" sz="1200" b="1" dirty="0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开源，如有需要自行前往搜索</a:t>
            </a:r>
            <a:r>
              <a:rPr lang="en-US" altLang="zh-CN" sz="1200" b="1" dirty="0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vlog-s-</a:t>
            </a:r>
            <a:r>
              <a:rPr lang="en-US" altLang="zh-CN" sz="1200" b="1" dirty="0" err="1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studyppt</a:t>
            </a:r>
            <a:r>
              <a:rPr lang="zh-CN" altLang="en-US" sz="1200" b="1" dirty="0">
                <a:solidFill>
                  <a:srgbClr val="0E3A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下载浏览</a:t>
            </a:r>
            <a:endParaRPr sz="1200" b="1" dirty="0">
              <a:solidFill>
                <a:srgbClr val="0E3A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0E3A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s25_01_693x75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0"/>
            <a:ext cx="6339810" cy="68580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0" y="0"/>
            <a:ext cx="6263640" cy="6858000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497433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7FC4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第二课 · 完</a:t>
            </a:r>
            <a:endParaRPr sz="1200" b="1">
              <a:solidFill>
                <a:srgbClr val="7FC4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615184"/>
            <a:ext cx="5157216" cy="735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下一课：光线与色彩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914400" y="3858768"/>
            <a:ext cx="2194560" cy="0"/>
          </a:xfrm>
          <a:prstGeom prst="line">
            <a:avLst/>
          </a:prstGeom>
          <a:ln w="38100">
            <a:solidFill>
              <a:srgbClr val="E88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8867" y="108131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6043</Words>
  <Application>WPS 演示</Application>
  <PresentationFormat>宽屏</PresentationFormat>
  <Paragraphs>1025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知多少工作室</cp:lastModifiedBy>
  <cp:revision>4</cp:revision>
  <dcterms:created xsi:type="dcterms:W3CDTF">2013-01-27T09:14:00Z</dcterms:created>
  <dcterms:modified xsi:type="dcterms:W3CDTF">2026-09-27T12:07:45Z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05D26113FF664EFB95B8BD3AF2D7D937_12</vt:lpwstr>
  </property>
  <property fmtid="{D5CDD505-2E9C-101B-9397-08002B2CF9AE}" pid="3" name="KSOProductBuildVer">
    <vt:lpwstr>2052-12.1.0.21915</vt:lpwstr>
  </property>
</Properties>
</file>