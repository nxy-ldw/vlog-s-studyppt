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E6AFCD-8546-4F57-A246-ACA38C6DBB3D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E0497-8562-4AC6-B6D6-1B0903309D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884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DE0497-8562-4AC6-B6D6-1B0903309DD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886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0E3A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00_01_738x75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0"/>
            <a:ext cx="6751290" cy="685800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0" y="0"/>
            <a:ext cx="5806440" cy="6858000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960120"/>
            <a:ext cx="460857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7FC4E0"/>
                </a:solidFill>
                <a:latin typeface="微软雅黑"/>
                <a:ea typeface="微软雅黑"/>
                <a:cs typeface="微软雅黑"/>
              </a:rPr>
              <a:t>拍摄教程 · 系列课程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4791456" cy="735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Vlog 拍摄入门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40864"/>
            <a:ext cx="4745736" cy="895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74200"/>
              </a:lnSpc>
              <a:spcAft>
                <a:spcPts val="0"/>
              </a:spcAft>
            </a:pPr>
            <a:r>
              <a:rPr sz="1900" b="0">
                <a:solidFill>
                  <a:srgbClr val="D8E8F0"/>
                </a:solidFill>
                <a:latin typeface="微软雅黑"/>
                <a:ea typeface="微软雅黑"/>
                <a:cs typeface="微软雅黑"/>
              </a:rPr>
              <a:t>第三课　收音：
声音不好，画面再好也白拍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3675888"/>
            <a:ext cx="2057400" cy="0"/>
          </a:xfrm>
          <a:prstGeom prst="line">
            <a:avLst/>
          </a:prstGeom>
          <a:ln w="38100">
            <a:solidFill>
              <a:srgbClr val="E88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3913632"/>
            <a:ext cx="4700016" cy="10044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207700"/>
              </a:lnSpc>
              <a:spcAft>
                <a:spcPts val="0"/>
              </a:spcAft>
            </a:pPr>
            <a:r>
              <a:rPr sz="1200" b="0">
                <a:solidFill>
                  <a:srgbClr val="A9C6D6"/>
                </a:solidFill>
                <a:latin typeface="微软雅黑"/>
                <a:ea typeface="微软雅黑"/>
                <a:cs typeface="微软雅黑"/>
              </a:rPr>
              <a:t>适用对象：手机 / 微单 / 相机拍摄爱好者</a:t>
            </a:r>
          </a:p>
          <a:p>
            <a:pPr algn="l">
              <a:lnSpc>
                <a:spcPct val="207700"/>
              </a:lnSpc>
              <a:spcAft>
                <a:spcPts val="0"/>
              </a:spcAft>
            </a:pPr>
            <a:r>
              <a:rPr sz="1200" b="0">
                <a:solidFill>
                  <a:srgbClr val="A9C6D6"/>
                </a:solidFill>
                <a:latin typeface="微软雅黑"/>
                <a:ea typeface="微软雅黑"/>
                <a:cs typeface="微软雅黑"/>
              </a:rPr>
              <a:t>课程时长：约 90 分钟（含随堂实拍）</a:t>
            </a:r>
          </a:p>
          <a:p>
            <a:pPr algn="l">
              <a:lnSpc>
                <a:spcPct val="207700"/>
              </a:lnSpc>
              <a:spcAft>
                <a:spcPts val="0"/>
              </a:spcAft>
            </a:pPr>
            <a:r>
              <a:rPr sz="1200" b="0">
                <a:solidFill>
                  <a:srgbClr val="A9C6D6"/>
                </a:solidFill>
                <a:latin typeface="微软雅黑"/>
                <a:ea typeface="微软雅黑"/>
                <a:cs typeface="微软雅黑"/>
              </a:rPr>
              <a:t>本课重点：设备选择 · 摆放距离 · 降噪 · 人声处理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440680"/>
            <a:ext cx="2240280" cy="475488"/>
          </a:xfrm>
          <a:prstGeom prst="roundRect">
            <a:avLst>
              <a:gd name="adj" fmla="val 19230"/>
            </a:avLst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5440680"/>
            <a:ext cx="227685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开始学习 →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1BFC2B0-69DD-311A-0EF2-E739E8B264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2914" y="81473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475488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课程地图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本课程学什么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417320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第三课　Vlog 收音入门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2050688" cy="3127248"/>
          </a:xfrm>
          <a:prstGeom prst="roundRect">
            <a:avLst>
              <a:gd name="adj" fmla="val 4458"/>
            </a:avLst>
          </a:prstGeom>
          <a:solidFill>
            <a:srgbClr val="F4F7FA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1993392"/>
            <a:ext cx="16849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第一课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249424"/>
            <a:ext cx="1684928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构图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9536" y="2798064"/>
            <a:ext cx="1648352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59536" y="2962656"/>
            <a:ext cx="16849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三分法 · 对称 · 引导线
框架 · 景深 · 留白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" y="4425696"/>
            <a:ext cx="557784" cy="274320"/>
          </a:xfrm>
          <a:prstGeom prst="roundRect">
            <a:avLst>
              <a:gd name="adj" fmla="val 20000"/>
            </a:avLst>
          </a:prstGeom>
          <a:solidFill>
            <a:srgbClr val="E1E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" y="4425696"/>
            <a:ext cx="59436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已学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64504" y="1755648"/>
            <a:ext cx="2050688" cy="3127248"/>
          </a:xfrm>
          <a:prstGeom prst="roundRect">
            <a:avLst>
              <a:gd name="adj" fmla="val 4458"/>
            </a:avLst>
          </a:prstGeom>
          <a:solidFill>
            <a:srgbClr val="F4F7FA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65672" y="1993392"/>
            <a:ext cx="16849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第二课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5672" y="2249424"/>
            <a:ext cx="1684928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运镜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65672" y="2798064"/>
            <a:ext cx="1648353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065672" y="2962656"/>
            <a:ext cx="16849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推拉 · 摇 · 移 · 跟随
升降 · 环绕 · 稳定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5672" y="4425696"/>
            <a:ext cx="557784" cy="274320"/>
          </a:xfrm>
          <a:prstGeom prst="roundRect">
            <a:avLst>
              <a:gd name="adj" fmla="val 20000"/>
            </a:avLst>
          </a:prstGeom>
          <a:solidFill>
            <a:srgbClr val="E1E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65672" y="4425696"/>
            <a:ext cx="59436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已学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70641" y="1755648"/>
            <a:ext cx="2050688" cy="3127248"/>
          </a:xfrm>
          <a:prstGeom prst="roundRect">
            <a:avLst>
              <a:gd name="adj" fmla="val 4458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70641" y="1755648"/>
            <a:ext cx="2050688" cy="82296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71809" y="1993392"/>
            <a:ext cx="16849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8FC0D6"/>
                </a:solidFill>
                <a:latin typeface="微软雅黑"/>
                <a:ea typeface="微软雅黑"/>
                <a:cs typeface="微软雅黑"/>
              </a:rPr>
              <a:t>第三课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71809" y="2249424"/>
            <a:ext cx="1684928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收音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271809" y="2798064"/>
            <a:ext cx="1648352" cy="0"/>
          </a:xfrm>
          <a:prstGeom prst="line">
            <a:avLst/>
          </a:prstGeom>
          <a:ln w="12700">
            <a:solidFill>
              <a:srgbClr val="2E6F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271809" y="2962656"/>
            <a:ext cx="16849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C3DAE6"/>
                </a:solidFill>
                <a:latin typeface="微软雅黑"/>
                <a:ea typeface="微软雅黑"/>
                <a:cs typeface="微软雅黑"/>
              </a:rPr>
              <a:t>设备选择 · 麦克风
降噪 · 人声处理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71809" y="4425696"/>
            <a:ext cx="557784" cy="274320"/>
          </a:xfrm>
          <a:prstGeom prst="roundRect">
            <a:avLst>
              <a:gd name="adj" fmla="val 20000"/>
            </a:avLst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71809" y="4425696"/>
            <a:ext cx="59436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76777" y="1755648"/>
            <a:ext cx="2050688" cy="3127248"/>
          </a:xfrm>
          <a:prstGeom prst="roundRect">
            <a:avLst>
              <a:gd name="adj" fmla="val 4458"/>
            </a:avLst>
          </a:prstGeom>
          <a:solidFill>
            <a:srgbClr val="F4F7FA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77945" y="1993392"/>
            <a:ext cx="16849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第四课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7945" y="2249424"/>
            <a:ext cx="1684928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剪辑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477945" y="2798064"/>
            <a:ext cx="1648352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477945" y="2962656"/>
            <a:ext cx="16849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粗剪 · 节奏 · 转场
字幕 · 调色 · 导出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77945" y="4425696"/>
            <a:ext cx="699516" cy="274320"/>
          </a:xfrm>
          <a:prstGeom prst="roundRect">
            <a:avLst>
              <a:gd name="adj" fmla="val 20000"/>
            </a:avLst>
          </a:prstGeom>
          <a:solidFill>
            <a:srgbClr val="E1E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77945" y="4425696"/>
            <a:ext cx="736092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下一课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82913" y="1755648"/>
            <a:ext cx="2050688" cy="3127248"/>
          </a:xfrm>
          <a:prstGeom prst="roundRect">
            <a:avLst>
              <a:gd name="adj" fmla="val 4458"/>
            </a:avLst>
          </a:prstGeom>
          <a:solidFill>
            <a:srgbClr val="F4F7FA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84081" y="1993392"/>
            <a:ext cx="1684928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第五课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4081" y="2249424"/>
            <a:ext cx="1684928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脚本思路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684081" y="2798064"/>
            <a:ext cx="1648353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684081" y="2962656"/>
            <a:ext cx="16849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选题 · 钩子 · 结构
分镜 · 台词 · 复盘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84081" y="4425696"/>
            <a:ext cx="557784" cy="274320"/>
          </a:xfrm>
          <a:prstGeom prst="roundRect">
            <a:avLst>
              <a:gd name="adj" fmla="val 20000"/>
            </a:avLst>
          </a:prstGeom>
          <a:solidFill>
            <a:srgbClr val="E1E9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84081" y="4425696"/>
            <a:ext cx="59436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后续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5138928"/>
            <a:ext cx="10875234" cy="859536"/>
          </a:xfrm>
          <a:prstGeom prst="roundRect">
            <a:avLst>
              <a:gd name="adj" fmla="val 8510"/>
            </a:avLst>
          </a:prstGeom>
          <a:solidFill>
            <a:srgbClr val="FDEE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58368" y="5138928"/>
            <a:ext cx="64008" cy="859536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32688" y="5138928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0E3A4E"/>
                </a:solidFill>
                <a:latin typeface="微软雅黑"/>
                <a:ea typeface="微软雅黑"/>
                <a:cs typeface="微软雅黑"/>
              </a:rPr>
              <a:t>五课一条线：构图决定好不好看，运镜决定动不动，收音决定听得清不清，剪辑决定节奏，脚本决定有没有人看下去。</a:t>
            </a:r>
          </a:p>
        </p:txBody>
      </p:sp>
      <p:pic>
        <p:nvPicPr>
          <p:cNvPr id="50" name="图片 49">
            <a:extLst>
              <a:ext uri="{FF2B5EF4-FFF2-40B4-BE49-F238E27FC236}">
                <a16:creationId xmlns:a16="http://schemas.microsoft.com/office/drawing/2014/main" id="{68FB0BF9-FD14-183B-5136-679A162F1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081" y="-10764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概念 ·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为什么收音比画面更关键？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观众可以忍受画面一般，但忍受不了听不清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第三课　Vlog 收音入门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28800"/>
            <a:ext cx="5349240" cy="2395728"/>
          </a:xfrm>
          <a:prstGeom prst="roundRect">
            <a:avLst>
              <a:gd name="adj" fmla="val 3816"/>
            </a:avLst>
          </a:prstGeom>
          <a:solidFill>
            <a:srgbClr val="E8F4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488289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2E8B67"/>
                </a:solidFill>
                <a:latin typeface="微软雅黑"/>
                <a:ea typeface="微软雅黑"/>
                <a:cs typeface="微软雅黑"/>
              </a:rPr>
              <a:t>声音好、画面一般</a:t>
            </a:r>
          </a:p>
        </p:txBody>
      </p:sp>
      <p:sp>
        <p:nvSpPr>
          <p:cNvPr id="13" name="Oval 12"/>
          <p:cNvSpPr/>
          <p:nvPr/>
        </p:nvSpPr>
        <p:spPr>
          <a:xfrm>
            <a:off x="964692" y="2482596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33856" y="2414016"/>
            <a:ext cx="46634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观众愿意听完，完播率明显更高</a:t>
            </a:r>
          </a:p>
        </p:txBody>
      </p:sp>
      <p:sp>
        <p:nvSpPr>
          <p:cNvPr id="15" name="Oval 14"/>
          <p:cNvSpPr/>
          <p:nvPr/>
        </p:nvSpPr>
        <p:spPr>
          <a:xfrm>
            <a:off x="964692" y="2828544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33856" y="2759964"/>
            <a:ext cx="46634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信息传达清楚，信任感更强</a:t>
            </a:r>
          </a:p>
        </p:txBody>
      </p:sp>
      <p:sp>
        <p:nvSpPr>
          <p:cNvPr id="17" name="Oval 16"/>
          <p:cNvSpPr/>
          <p:nvPr/>
        </p:nvSpPr>
        <p:spPr>
          <a:xfrm>
            <a:off x="964692" y="3174492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33856" y="3105912"/>
            <a:ext cx="46634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手机外放也听得清，适合碎片时间观看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19088" y="1828800"/>
            <a:ext cx="5111496" cy="2395728"/>
          </a:xfrm>
          <a:prstGeom prst="roundRect">
            <a:avLst>
              <a:gd name="adj" fmla="val 3816"/>
            </a:avLst>
          </a:prstGeom>
          <a:solidFill>
            <a:srgbClr val="FBED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2011680"/>
            <a:ext cx="460857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C0453B"/>
                </a:solidFill>
                <a:latin typeface="微软雅黑"/>
                <a:ea typeface="微软雅黑"/>
                <a:cs typeface="微软雅黑"/>
              </a:rPr>
              <a:t>声音差、画面精致</a:t>
            </a:r>
          </a:p>
        </p:txBody>
      </p:sp>
      <p:sp>
        <p:nvSpPr>
          <p:cNvPr id="21" name="Oval 20"/>
          <p:cNvSpPr/>
          <p:nvPr/>
        </p:nvSpPr>
        <p:spPr>
          <a:xfrm>
            <a:off x="6725412" y="2482596"/>
            <a:ext cx="86868" cy="86868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94576" y="2414016"/>
            <a:ext cx="438912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风声、回声、噪声让人立刻划走</a:t>
            </a:r>
          </a:p>
        </p:txBody>
      </p:sp>
      <p:sp>
        <p:nvSpPr>
          <p:cNvPr id="23" name="Oval 22"/>
          <p:cNvSpPr/>
          <p:nvPr/>
        </p:nvSpPr>
        <p:spPr>
          <a:xfrm>
            <a:off x="6725412" y="2828544"/>
            <a:ext cx="86868" cy="86868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94576" y="2759964"/>
            <a:ext cx="438912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字幕再准也补不回“听不清”的烦躁</a:t>
            </a:r>
          </a:p>
        </p:txBody>
      </p:sp>
      <p:sp>
        <p:nvSpPr>
          <p:cNvPr id="25" name="Oval 24"/>
          <p:cNvSpPr/>
          <p:nvPr/>
        </p:nvSpPr>
        <p:spPr>
          <a:xfrm>
            <a:off x="6725412" y="3174492"/>
            <a:ext cx="86868" cy="86868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94576" y="3105912"/>
            <a:ext cx="438912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拍摄现场没录好，后期几乎救不回来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425696"/>
            <a:ext cx="10875234" cy="1517904"/>
          </a:xfrm>
          <a:prstGeom prst="roundRect">
            <a:avLst>
              <a:gd name="adj" fmla="val 6024"/>
            </a:avLst>
          </a:prstGeom>
          <a:solidFill>
            <a:srgbClr val="EAF2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8368" y="4425696"/>
            <a:ext cx="64008" cy="151790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0976" y="4590288"/>
            <a:ext cx="10271730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一条铁律：声音是“及格线”，画面是“加分项”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" y="4974336"/>
            <a:ext cx="10271730" cy="35097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43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画面糊一点、抖一点，观众还能看下去；但一旦听不清，90% 的人会在 5 秒内划走。所以收音要优先于画面去解决。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7347B283-AC8A-AC9A-CFAC-E900DA9DF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081" y="-10764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概念 ·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一条 Vlog 里的三种声音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先把声音分类，才知道每一类该怎么录、录到什么程度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第三课　Vlog 收音入门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10512"/>
            <a:ext cx="3502152" cy="3931920"/>
          </a:xfrm>
          <a:prstGeom prst="roundRect">
            <a:avLst>
              <a:gd name="adj" fmla="val 261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1810512"/>
            <a:ext cx="3502152" cy="91440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029968"/>
            <a:ext cx="3026664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人声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87168"/>
            <a:ext cx="3026664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最重要，必须清楚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2889504"/>
            <a:ext cx="2990088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64692" y="3140964"/>
            <a:ext cx="86868" cy="86868"/>
          </a:xfrm>
          <a:prstGeom prst="ellipse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33856" y="3072384"/>
            <a:ext cx="280720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出镜口播、对话、旁白</a:t>
            </a:r>
          </a:p>
        </p:txBody>
      </p:sp>
      <p:sp>
        <p:nvSpPr>
          <p:cNvPr id="18" name="Oval 17"/>
          <p:cNvSpPr/>
          <p:nvPr/>
        </p:nvSpPr>
        <p:spPr>
          <a:xfrm>
            <a:off x="964692" y="3468624"/>
            <a:ext cx="86868" cy="86868"/>
          </a:xfrm>
          <a:prstGeom prst="ellipse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33856" y="3400044"/>
            <a:ext cx="280720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目标：干净、无噪声、音量稳定</a:t>
            </a:r>
          </a:p>
        </p:txBody>
      </p:sp>
      <p:sp>
        <p:nvSpPr>
          <p:cNvPr id="20" name="Oval 19"/>
          <p:cNvSpPr/>
          <p:nvPr/>
        </p:nvSpPr>
        <p:spPr>
          <a:xfrm>
            <a:off x="964692" y="3796284"/>
            <a:ext cx="86868" cy="86868"/>
          </a:xfrm>
          <a:prstGeom prst="ellipse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33856" y="3727704"/>
            <a:ext cx="280720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优先级最高，其他都能让路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2544" y="1810512"/>
            <a:ext cx="3502152" cy="3931920"/>
          </a:xfrm>
          <a:prstGeom prst="roundRect">
            <a:avLst>
              <a:gd name="adj" fmla="val 261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52544" y="1810512"/>
            <a:ext cx="3502152" cy="91440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08576" y="2029968"/>
            <a:ext cx="3026664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2E8B67"/>
                </a:solidFill>
                <a:latin typeface="微软雅黑"/>
                <a:ea typeface="微软雅黑"/>
                <a:cs typeface="微软雅黑"/>
              </a:rPr>
              <a:t>环境音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2487168"/>
            <a:ext cx="3026664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交代“我在哪”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608576" y="2889504"/>
            <a:ext cx="2990088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658868" y="3140964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28032" y="3072384"/>
            <a:ext cx="280720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街道车流、鸟叫、碗筷声</a:t>
            </a:r>
          </a:p>
        </p:txBody>
      </p:sp>
      <p:sp>
        <p:nvSpPr>
          <p:cNvPr id="29" name="Oval 28"/>
          <p:cNvSpPr/>
          <p:nvPr/>
        </p:nvSpPr>
        <p:spPr>
          <a:xfrm>
            <a:off x="4658868" y="3468624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28032" y="3400044"/>
            <a:ext cx="280720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目标：真实、不刺耳、不抢人声</a:t>
            </a:r>
          </a:p>
        </p:txBody>
      </p:sp>
      <p:sp>
        <p:nvSpPr>
          <p:cNvPr id="31" name="Oval 30"/>
          <p:cNvSpPr/>
          <p:nvPr/>
        </p:nvSpPr>
        <p:spPr>
          <a:xfrm>
            <a:off x="4658868" y="3796284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8032" y="3727704"/>
            <a:ext cx="280720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单独录 30 秒，剪辑时铺底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1810512"/>
            <a:ext cx="3502152" cy="3931920"/>
          </a:xfrm>
          <a:prstGeom prst="roundRect">
            <a:avLst>
              <a:gd name="adj" fmla="val 2610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46720" y="1810512"/>
            <a:ext cx="3502152" cy="91440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02752" y="2029968"/>
            <a:ext cx="3026664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音乐 / 音效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2487168"/>
            <a:ext cx="3026664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控制情绪和节奏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02752" y="2889504"/>
            <a:ext cx="2990088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353044" y="3140964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22208" y="3072384"/>
            <a:ext cx="280720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背景音乐、转场音效</a:t>
            </a:r>
          </a:p>
        </p:txBody>
      </p:sp>
      <p:sp>
        <p:nvSpPr>
          <p:cNvPr id="40" name="Oval 39"/>
          <p:cNvSpPr/>
          <p:nvPr/>
        </p:nvSpPr>
        <p:spPr>
          <a:xfrm>
            <a:off x="8353044" y="3468624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22208" y="3400044"/>
            <a:ext cx="280720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目标：比人声低 15~20dB</a:t>
            </a:r>
          </a:p>
        </p:txBody>
      </p:sp>
      <p:sp>
        <p:nvSpPr>
          <p:cNvPr id="42" name="Oval 41"/>
          <p:cNvSpPr/>
          <p:nvPr/>
        </p:nvSpPr>
        <p:spPr>
          <a:xfrm>
            <a:off x="8353044" y="3796284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22208" y="3727704"/>
            <a:ext cx="280720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注意版权，用可商用曲库</a:t>
            </a: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293E3B25-82E9-AAD9-62FE-5C2C34AF6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081" y="-10764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地基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收音设备怎么选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先看“要不要走动”，再看预算：大多数人只需要前两种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第三课　Vlog 收音入门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1792224"/>
          <a:ext cx="10875234" cy="288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1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82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867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22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价格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音质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适合场景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缺点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手机内置麦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 元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安静室内、离嘴 30cm 以内的口播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环境噪声、风噪全都收进来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领夹麦（有线）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50~200 元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★★★★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出镜口播、访谈、走动拍摄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线材限制活动，容易摩擦出声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无线领夹（小蜜蜂）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300~1500 元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探店、旅行、多人对话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需要充电，可能被信号干扰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指向性麦克风 / 枪麦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300~2000 元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★★★★★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户外走动、嘈杂环境、远距离收音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必须对准声源，闷在包里会收不到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录音笔 / 独立录音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500 元起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★★★★★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访谈、需要高质量人声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后期要对轨，多一道工序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504688"/>
            <a:ext cx="10875234" cy="786384"/>
          </a:xfrm>
          <a:prstGeom prst="roundRect">
            <a:avLst>
              <a:gd name="adj" fmla="val 9302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5504688"/>
            <a:ext cx="64008" cy="78638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504688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新手配置：手机 + 一支有线领夹麦（不到 100 元），音质就能超过 90% 的随手拍。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19F4864-7D03-6399-1250-63D9FC4F8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081" y="-10764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0E3A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2148840"/>
            <a:ext cx="3694176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7200" b="1">
                <a:solidFill>
                  <a:srgbClr val="2E6F8E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310128"/>
            <a:ext cx="8814816" cy="735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怎么录到干净的人声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160520"/>
            <a:ext cx="8631936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0">
                <a:solidFill>
                  <a:srgbClr val="A8C2D4"/>
                </a:solidFill>
                <a:latin typeface="微软雅黑"/>
                <a:ea typeface="微软雅黑"/>
                <a:cs typeface="微软雅黑"/>
              </a:rPr>
              <a:t>指向性 · 距离 · 环境 · 备份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24128" y="4892040"/>
            <a:ext cx="3474720" cy="0"/>
          </a:xfrm>
          <a:prstGeom prst="line">
            <a:avLst/>
          </a:prstGeom>
          <a:ln w="31750">
            <a:solidFill>
              <a:srgbClr val="E88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7FA0B5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9B127C7-1FC6-ED7A-BB70-05A305433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081" y="-10764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1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麦克风的三种指向性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指向性决定它能收进多少周围的声音——选错就会把噪声一起收进来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第三课　Vlog 收音入门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pic>
        <p:nvPicPr>
          <p:cNvPr id="11" name="Picture 10" descr="s06_09_750x4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83664"/>
            <a:ext cx="6858000" cy="393192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7882128" y="1883664"/>
            <a:ext cx="3651474" cy="1883664"/>
          </a:xfrm>
          <a:prstGeom prst="roundRect">
            <a:avLst>
              <a:gd name="adj" fmla="val 4854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9872" y="2048256"/>
            <a:ext cx="3212562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怎么选</a:t>
            </a:r>
          </a:p>
        </p:txBody>
      </p:sp>
      <p:sp>
        <p:nvSpPr>
          <p:cNvPr id="14" name="Oval 13"/>
          <p:cNvSpPr/>
          <p:nvPr/>
        </p:nvSpPr>
        <p:spPr>
          <a:xfrm>
            <a:off x="8170164" y="2500884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9328" y="2432304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单人出镜 → 心形指向（最常用）</a:t>
            </a:r>
          </a:p>
        </p:txBody>
      </p:sp>
      <p:sp>
        <p:nvSpPr>
          <p:cNvPr id="16" name="Oval 15"/>
          <p:cNvSpPr/>
          <p:nvPr/>
        </p:nvSpPr>
        <p:spPr>
          <a:xfrm>
            <a:off x="8170164" y="2819400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2750820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户外嘈杂 → 超心形 / 枪麦</a:t>
            </a:r>
          </a:p>
        </p:txBody>
      </p:sp>
      <p:sp>
        <p:nvSpPr>
          <p:cNvPr id="18" name="Oval 17"/>
          <p:cNvSpPr/>
          <p:nvPr/>
        </p:nvSpPr>
        <p:spPr>
          <a:xfrm>
            <a:off x="8170164" y="3137916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9328" y="3069336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环境音 / 双人 → 全指向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8" y="3931920"/>
            <a:ext cx="3651474" cy="1883664"/>
          </a:xfrm>
          <a:prstGeom prst="roundRect">
            <a:avLst>
              <a:gd name="adj" fmla="val 4854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19872" y="4096512"/>
            <a:ext cx="3212562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两个误区</a:t>
            </a:r>
          </a:p>
        </p:txBody>
      </p:sp>
      <p:sp>
        <p:nvSpPr>
          <p:cNvPr id="22" name="Oval 21"/>
          <p:cNvSpPr/>
          <p:nvPr/>
        </p:nvSpPr>
        <p:spPr>
          <a:xfrm>
            <a:off x="8170164" y="4549140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9328" y="4480560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DCEAF2"/>
                </a:solidFill>
                <a:latin typeface="微软雅黑"/>
                <a:ea typeface="微软雅黑"/>
                <a:cs typeface="微软雅黑"/>
              </a:rPr>
              <a:t>别把领夹麦别在衣服摩擦处</a:t>
            </a:r>
          </a:p>
        </p:txBody>
      </p:sp>
      <p:sp>
        <p:nvSpPr>
          <p:cNvPr id="24" name="Oval 23"/>
          <p:cNvSpPr/>
          <p:nvPr/>
        </p:nvSpPr>
        <p:spPr>
          <a:xfrm>
            <a:off x="8170164" y="4876800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9328" y="4808220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DCEAF2"/>
                </a:solidFill>
                <a:latin typeface="微软雅黑"/>
                <a:ea typeface="微软雅黑"/>
                <a:cs typeface="微软雅黑"/>
              </a:rPr>
              <a:t>枪麦指向性强，但没对准等于没录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5D5987A4-4A25-5643-A9C5-FE91CF6A3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4081" y="-10764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2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距离：最容易忽略、也最影响音质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同一支麦克风，离嘴 20cm 和 1.5m，差别比换设备还大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第三课　Vlog 收音入门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pic>
        <p:nvPicPr>
          <p:cNvPr id="11" name="Picture 10" descr="s07_09_750x4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83664"/>
            <a:ext cx="6858000" cy="393192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7882128" y="1883664"/>
            <a:ext cx="3651474" cy="2267712"/>
          </a:xfrm>
          <a:prstGeom prst="roundRect">
            <a:avLst>
              <a:gd name="adj" fmla="val 4032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9872" y="2048256"/>
            <a:ext cx="3212562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记住三个数</a:t>
            </a:r>
          </a:p>
        </p:txBody>
      </p:sp>
      <p:sp>
        <p:nvSpPr>
          <p:cNvPr id="14" name="Oval 13"/>
          <p:cNvSpPr/>
          <p:nvPr/>
        </p:nvSpPr>
        <p:spPr>
          <a:xfrm>
            <a:off x="8170164" y="2519172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9328" y="2450592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20cm：人声最结实（领夹麦贴衣领）</a:t>
            </a:r>
          </a:p>
        </p:txBody>
      </p:sp>
      <p:sp>
        <p:nvSpPr>
          <p:cNvPr id="16" name="Oval 15"/>
          <p:cNvSpPr/>
          <p:nvPr/>
        </p:nvSpPr>
        <p:spPr>
          <a:xfrm>
            <a:off x="8170164" y="2846832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2778252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50cm：手机直录的合理距离</a:t>
            </a:r>
          </a:p>
        </p:txBody>
      </p:sp>
      <p:sp>
        <p:nvSpPr>
          <p:cNvPr id="18" name="Oval 17"/>
          <p:cNvSpPr/>
          <p:nvPr/>
        </p:nvSpPr>
        <p:spPr>
          <a:xfrm>
            <a:off x="8170164" y="3174492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9328" y="3105912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1.5m 以上：基本是废素材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8" y="4315968"/>
            <a:ext cx="3651474" cy="1499616"/>
          </a:xfrm>
          <a:prstGeom prst="roundRect">
            <a:avLst>
              <a:gd name="adj" fmla="val 6097"/>
            </a:avLst>
          </a:prstGeom>
          <a:solidFill>
            <a:srgbClr val="FDEE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82128" y="4315968"/>
            <a:ext cx="64008" cy="1499616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4480560"/>
            <a:ext cx="317598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0E3A4E"/>
                </a:solidFill>
                <a:latin typeface="微软雅黑"/>
                <a:ea typeface="微软雅黑"/>
                <a:cs typeface="微软雅黑"/>
              </a:rPr>
              <a:t>物理规律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846320"/>
            <a:ext cx="3175986" cy="924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距离翻倍，人声能量只剩约 1/4，
环境噪声却几乎不变——所以“举近一点”永远有效。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AC69C298-D7BF-0F89-14F3-057316FA4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4081" y="-10764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2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环境：好声音有一半是“选”出来的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同样的设备，换个房间、换个时间，效果差一大截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第三课　Vlog 收音入门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10512"/>
            <a:ext cx="5349240" cy="2084832"/>
          </a:xfrm>
          <a:prstGeom prst="roundRect">
            <a:avLst>
              <a:gd name="adj" fmla="val 4385"/>
            </a:avLst>
          </a:prstGeom>
          <a:solidFill>
            <a:srgbClr val="E8F4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975104"/>
            <a:ext cx="488289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2E8B67"/>
                </a:solidFill>
                <a:latin typeface="微软雅黑"/>
                <a:ea typeface="微软雅黑"/>
                <a:cs typeface="微软雅黑"/>
              </a:rPr>
              <a:t>✓ 优先选这样的环境</a:t>
            </a:r>
          </a:p>
        </p:txBody>
      </p:sp>
      <p:sp>
        <p:nvSpPr>
          <p:cNvPr id="13" name="Oval 12"/>
          <p:cNvSpPr/>
          <p:nvPr/>
        </p:nvSpPr>
        <p:spPr>
          <a:xfrm>
            <a:off x="964692" y="2446020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33856" y="2377440"/>
            <a:ext cx="46634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有软装的房间：地毯、窗帘、沙发、书架</a:t>
            </a:r>
          </a:p>
        </p:txBody>
      </p:sp>
      <p:sp>
        <p:nvSpPr>
          <p:cNvPr id="15" name="Oval 14"/>
          <p:cNvSpPr/>
          <p:nvPr/>
        </p:nvSpPr>
        <p:spPr>
          <a:xfrm>
            <a:off x="964692" y="2773680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33856" y="2705100"/>
            <a:ext cx="46634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小房间比空旷大厅好（回声少）</a:t>
            </a:r>
          </a:p>
        </p:txBody>
      </p:sp>
      <p:sp>
        <p:nvSpPr>
          <p:cNvPr id="17" name="Oval 16"/>
          <p:cNvSpPr/>
          <p:nvPr/>
        </p:nvSpPr>
        <p:spPr>
          <a:xfrm>
            <a:off x="964692" y="3101340"/>
            <a:ext cx="86868" cy="86868"/>
          </a:xfrm>
          <a:prstGeom prst="ellipse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33856" y="3032760"/>
            <a:ext cx="466344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清晨、深夜的街道，车流最少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19088" y="1810512"/>
            <a:ext cx="5111496" cy="2084832"/>
          </a:xfrm>
          <a:prstGeom prst="roundRect">
            <a:avLst>
              <a:gd name="adj" fmla="val 4385"/>
            </a:avLst>
          </a:prstGeom>
          <a:solidFill>
            <a:srgbClr val="FBED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1975104"/>
            <a:ext cx="460857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C0453B"/>
                </a:solidFill>
                <a:latin typeface="微软雅黑"/>
                <a:ea typeface="微软雅黑"/>
                <a:cs typeface="微软雅黑"/>
              </a:rPr>
              <a:t>✕ 尽量避开</a:t>
            </a:r>
          </a:p>
        </p:txBody>
      </p:sp>
      <p:sp>
        <p:nvSpPr>
          <p:cNvPr id="21" name="Oval 20"/>
          <p:cNvSpPr/>
          <p:nvPr/>
        </p:nvSpPr>
        <p:spPr>
          <a:xfrm>
            <a:off x="6725412" y="2446020"/>
            <a:ext cx="86868" cy="86868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94576" y="2377440"/>
            <a:ext cx="438912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空房间、瓷砖墙、玻璃幕墙（回声重）</a:t>
            </a:r>
          </a:p>
        </p:txBody>
      </p:sp>
      <p:sp>
        <p:nvSpPr>
          <p:cNvPr id="23" name="Oval 22"/>
          <p:cNvSpPr/>
          <p:nvPr/>
        </p:nvSpPr>
        <p:spPr>
          <a:xfrm>
            <a:off x="6725412" y="2773680"/>
            <a:ext cx="86868" cy="86868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94576" y="2705100"/>
            <a:ext cx="438912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空调出风口、冰箱、电脑风扇旁</a:t>
            </a:r>
          </a:p>
        </p:txBody>
      </p:sp>
      <p:sp>
        <p:nvSpPr>
          <p:cNvPr id="25" name="Oval 24"/>
          <p:cNvSpPr/>
          <p:nvPr/>
        </p:nvSpPr>
        <p:spPr>
          <a:xfrm>
            <a:off x="6725412" y="3101340"/>
            <a:ext cx="86868" cy="86868"/>
          </a:xfrm>
          <a:prstGeom prst="ellipse">
            <a:avLst/>
          </a:prstGeom>
          <a:solidFill>
            <a:srgbClr val="C045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94576" y="3032760"/>
            <a:ext cx="438912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马路边、地铁口、施工点、大风天的空旷处</a:t>
            </a:r>
          </a:p>
        </p:txBody>
      </p:sp>
      <p:pic>
        <p:nvPicPr>
          <p:cNvPr id="27" name="Picture 26" descr="s08_25_585x1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986784"/>
            <a:ext cx="5349240" cy="1298448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pic>
        <p:nvPicPr>
          <p:cNvPr id="28" name="Picture 27" descr="s08_26_559x14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3986784"/>
            <a:ext cx="5111496" cy="1298448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658368" y="5358384"/>
            <a:ext cx="5385816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2E8B67"/>
                </a:solidFill>
                <a:latin typeface="微软雅黑"/>
                <a:ea typeface="微软雅黑"/>
                <a:cs typeface="微软雅黑"/>
              </a:rPr>
              <a:t>安静室内：适合口播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5358384"/>
            <a:ext cx="5148072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C0453B"/>
                </a:solidFill>
                <a:latin typeface="微软雅黑"/>
                <a:ea typeface="微软雅黑"/>
                <a:cs typeface="微软雅黑"/>
              </a:rPr>
              <a:t>嘈杂街头：必须用枪麦或贴紧领夹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41264"/>
            <a:ext cx="10875234" cy="786384"/>
          </a:xfrm>
          <a:prstGeom prst="roundRect">
            <a:avLst>
              <a:gd name="adj" fmla="val 9302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5541264"/>
            <a:ext cx="64008" cy="78638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2688" y="5541264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录之前先静站 10 秒：用耳机回放听一遍，能听到什么噪声，观众就会听到什么。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7158CB17-1DBD-1C2F-1237-A30717703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4081" y="-10764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3 / 5 · 设置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录音设置：开拍前必须关掉的三个开关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手机和相机的默认设置，是为“随手拍”优化的，不是为 Vlog 优化的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第三课　Vlog 收音入门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1792224"/>
          <a:ext cx="10875233" cy="2980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3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9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5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7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设置项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默认状态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为什么必须改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改成什么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自动增益（AGC）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开启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声音小就自动拉高，把底噪一起放大，人声忽大忽小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关闭，手动固定增益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一键降噪 / 美声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开启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算法会吃掉人声细节，听起来发闷、像水下说话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关闭，降噪留给后期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视频收音压缩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中等压缩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压缩过重会丢掉动态，后期无法恢复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选最高音质（WAV / 高码率）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采样率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44.1kHz 或自适应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多设备混用会不同步，后期对轨麻烦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统一 48kHz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防抖与收音联动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部分机型开启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防抖开启时可能降低收音质量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测试后择一，不要两个都开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522976"/>
            <a:ext cx="10875234" cy="786384"/>
          </a:xfrm>
          <a:prstGeom prst="roundRect">
            <a:avLst>
              <a:gd name="adj" fmla="val 9302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5522976"/>
            <a:ext cx="64008" cy="78638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522976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通用原则：能关的自动功能全关掉——现场越“手动”，后期越省事。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47134AC-94B6-63DF-7642-0462450D8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081" y="-10764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4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三种常用收音方案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按“动不动、几个人、环境多吵”来选方案，不要按价格选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第三课　Vlog 收音入门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pic>
        <p:nvPicPr>
          <p:cNvPr id="11" name="Picture 10" descr="s10_09_750x4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83664"/>
            <a:ext cx="6858000" cy="393192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7882128" y="1883664"/>
            <a:ext cx="3651474" cy="1883664"/>
          </a:xfrm>
          <a:prstGeom prst="roundRect">
            <a:avLst>
              <a:gd name="adj" fmla="val 4854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9872" y="2048256"/>
            <a:ext cx="3212562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摆位要点</a:t>
            </a:r>
          </a:p>
        </p:txBody>
      </p:sp>
      <p:sp>
        <p:nvSpPr>
          <p:cNvPr id="14" name="Oval 13"/>
          <p:cNvSpPr/>
          <p:nvPr/>
        </p:nvSpPr>
        <p:spPr>
          <a:xfrm>
            <a:off x="8170164" y="2500884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9328" y="2432304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领夹麦：夹在第二颗纽扣位置</a:t>
            </a:r>
          </a:p>
        </p:txBody>
      </p:sp>
      <p:sp>
        <p:nvSpPr>
          <p:cNvPr id="16" name="Oval 15"/>
          <p:cNvSpPr/>
          <p:nvPr/>
        </p:nvSpPr>
        <p:spPr>
          <a:xfrm>
            <a:off x="8170164" y="2819400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2750820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枪麦：斜上方 45° 对准嘴，别挡画面</a:t>
            </a:r>
          </a:p>
        </p:txBody>
      </p:sp>
      <p:sp>
        <p:nvSpPr>
          <p:cNvPr id="18" name="Oval 17"/>
          <p:cNvSpPr/>
          <p:nvPr/>
        </p:nvSpPr>
        <p:spPr>
          <a:xfrm>
            <a:off x="8170164" y="3137916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9328" y="3069336"/>
            <a:ext cx="299310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线材留出余量，走动时不要拉紧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8" y="3931920"/>
            <a:ext cx="3651474" cy="1883664"/>
          </a:xfrm>
          <a:prstGeom prst="roundRect">
            <a:avLst>
              <a:gd name="adj" fmla="val 4854"/>
            </a:avLst>
          </a:prstGeom>
          <a:solidFill>
            <a:srgbClr val="FDEE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82128" y="3931920"/>
            <a:ext cx="64008" cy="188366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4096512"/>
            <a:ext cx="317598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0E3A4E"/>
                </a:solidFill>
                <a:latin typeface="微软雅黑"/>
                <a:ea typeface="微软雅黑"/>
                <a:cs typeface="微软雅黑"/>
              </a:rPr>
              <a:t>一句话判断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480560"/>
            <a:ext cx="3175986" cy="9432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43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站着不动、环境安静 → 手机就够；
要走动、环境吵 → 必须上领夹或枪麦。
别用“后期降噪”去补现场的错。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F034F558-241D-C853-3774-B2A321BA2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4081" y="-10764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4 / 5 · 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不同场景的收音方案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照着这张表配，现场就不用临场纠结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第三课　Vlog 收音入门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1792224"/>
          <a:ext cx="10875233" cy="3602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0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0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85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61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拍摄场景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推荐设备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摆位方式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注意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室内口播 / 坐着说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领夹麦 或 手机内置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手机正前方 30cm，或领夹贴衣领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关空调、关风扇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室内访谈 / 两人对谈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两支领夹麦 或 录音笔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各人一支，别共用一支麦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两条音轨后期分别处理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街头走路 Vlog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无线领夹（小蜜蜂）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夹在衣领，发射器放口袋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避开信号密集处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探店 / 嘈杂餐厅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领夹麦 贴紧衣领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离嘴 20cm 以内，越近越好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让环境音当背景，别怕吵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旅行风景 + 旁白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手机 + 后期配音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现场只录环境音，旁白回家录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旁白在安静房间单独录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美食制作（有声）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枪麦 或 录音笔靠近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对准锅、刀、食材的位置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单独补录 30 秒细节音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541264"/>
            <a:ext cx="10875234" cy="786384"/>
          </a:xfrm>
          <a:prstGeom prst="roundRect">
            <a:avLst>
              <a:gd name="adj" fmla="val 9302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5541264"/>
            <a:ext cx="64008" cy="78638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541264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通用原则：人声永远单独收一路；环境音永远单独补录一段。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DAE846A-293B-C45D-6472-014309EF1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081" y="-10764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拍摄前设备与设置清单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出门前照着打勾，比到现场才发现问题便宜得多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第三课　Vlog 收音入门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10512"/>
            <a:ext cx="5349240" cy="1847088"/>
          </a:xfrm>
          <a:prstGeom prst="roundRect">
            <a:avLst>
              <a:gd name="adj" fmla="val 4950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1810512"/>
            <a:ext cx="5349240" cy="82296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011680"/>
            <a:ext cx="4873752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设备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455164"/>
            <a:ext cx="164592" cy="164592"/>
          </a:xfrm>
          <a:prstGeom prst="roundRect">
            <a:avLst>
              <a:gd name="adj" fmla="val 16666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2414016"/>
            <a:ext cx="459943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领夹麦 / 枪麦（充满电）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839212"/>
            <a:ext cx="164592" cy="164592"/>
          </a:xfrm>
          <a:prstGeom prst="roundRect">
            <a:avLst>
              <a:gd name="adj" fmla="val 16666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2798064"/>
            <a:ext cx="459943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防风毛套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223260"/>
            <a:ext cx="164592" cy="164592"/>
          </a:xfrm>
          <a:prstGeom prst="roundRect">
            <a:avLst>
              <a:gd name="adj" fmla="val 16666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8720" y="3182112"/>
            <a:ext cx="459943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耳机（必须带，用于试听）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607308"/>
            <a:ext cx="164592" cy="164592"/>
          </a:xfrm>
          <a:prstGeom prst="roundRect">
            <a:avLst>
              <a:gd name="adj" fmla="val 16666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3566160"/>
            <a:ext cx="459943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备用电池、转接头、延长线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40480"/>
            <a:ext cx="5349240" cy="1847088"/>
          </a:xfrm>
          <a:prstGeom prst="roundRect">
            <a:avLst>
              <a:gd name="adj" fmla="val 4950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8368" y="3840480"/>
            <a:ext cx="5349240" cy="82296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041648"/>
            <a:ext cx="4873752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设置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485132"/>
            <a:ext cx="164592" cy="164592"/>
          </a:xfrm>
          <a:prstGeom prst="roundRect">
            <a:avLst>
              <a:gd name="adj" fmla="val 16666"/>
            </a:avLst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4443984"/>
            <a:ext cx="459943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关闭自动增益（AGC）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869180"/>
            <a:ext cx="164592" cy="164592"/>
          </a:xfrm>
          <a:prstGeom prst="roundRect">
            <a:avLst>
              <a:gd name="adj" fmla="val 16666"/>
            </a:avLst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88720" y="4828032"/>
            <a:ext cx="459943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关闭“降噪美化”等一键音效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253228"/>
            <a:ext cx="164592" cy="164592"/>
          </a:xfrm>
          <a:prstGeom prst="roundRect">
            <a:avLst>
              <a:gd name="adj" fmla="val 16666"/>
            </a:avLst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88720" y="5212080"/>
            <a:ext cx="459943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采样率 48kHz，格式 WAV 优先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5637276"/>
            <a:ext cx="164592" cy="164592"/>
          </a:xfrm>
          <a:prstGeom prst="roundRect">
            <a:avLst>
              <a:gd name="adj" fmla="val 16666"/>
            </a:avLst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88720" y="5596128"/>
            <a:ext cx="4599432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开启双路录制（麦 + 手机）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1810512"/>
            <a:ext cx="5343114" cy="3895344"/>
          </a:xfrm>
          <a:prstGeom prst="roundRect">
            <a:avLst>
              <a:gd name="adj" fmla="val 2347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64808" y="2029968"/>
            <a:ext cx="4831050" cy="3782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最容易忘的三件事</a:t>
            </a:r>
          </a:p>
        </p:txBody>
      </p:sp>
      <p:sp>
        <p:nvSpPr>
          <p:cNvPr id="35" name="Oval 34"/>
          <p:cNvSpPr/>
          <p:nvPr/>
        </p:nvSpPr>
        <p:spPr>
          <a:xfrm>
            <a:off x="6515100" y="2683764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84264" y="2615184"/>
            <a:ext cx="4611594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DCEAF2"/>
                </a:solidFill>
                <a:latin typeface="微软雅黑"/>
                <a:ea typeface="微软雅黑"/>
                <a:cs typeface="微软雅黑"/>
              </a:rPr>
              <a:t>忘了带耳机 → 现场根本不知道录成了什么</a:t>
            </a:r>
          </a:p>
        </p:txBody>
      </p:sp>
      <p:sp>
        <p:nvSpPr>
          <p:cNvPr id="37" name="Oval 36"/>
          <p:cNvSpPr/>
          <p:nvPr/>
        </p:nvSpPr>
        <p:spPr>
          <a:xfrm>
            <a:off x="6515100" y="3102864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84264" y="3034284"/>
            <a:ext cx="4611594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DCEAF2"/>
                </a:solidFill>
                <a:latin typeface="微软雅黑"/>
                <a:ea typeface="微软雅黑"/>
                <a:cs typeface="微软雅黑"/>
              </a:rPr>
              <a:t>忘了关自动增益 → 人声忽大忽小，后期很难救</a:t>
            </a:r>
          </a:p>
        </p:txBody>
      </p:sp>
      <p:sp>
        <p:nvSpPr>
          <p:cNvPr id="39" name="Oval 38"/>
          <p:cNvSpPr/>
          <p:nvPr/>
        </p:nvSpPr>
        <p:spPr>
          <a:xfrm>
            <a:off x="6515100" y="3521964"/>
            <a:ext cx="86868" cy="86868"/>
          </a:xfrm>
          <a:prstGeom prst="ellipse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84264" y="3453384"/>
            <a:ext cx="4611594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DCEAF2"/>
                </a:solidFill>
                <a:latin typeface="微软雅黑"/>
                <a:ea typeface="微软雅黑"/>
                <a:cs typeface="微软雅黑"/>
              </a:rPr>
              <a:t>忘了录环境音 → 剪辑时画面“太干净”，反而假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64808" y="4663440"/>
            <a:ext cx="4794474" cy="786384"/>
          </a:xfrm>
          <a:prstGeom prst="roundRect">
            <a:avLst>
              <a:gd name="adj" fmla="val 8139"/>
            </a:avLst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64808" y="4663440"/>
            <a:ext cx="4831050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带耳机 = 带耳朵</a:t>
            </a: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4336E8BC-5499-0229-8887-9B2F14B17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081" y="-10764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技巧 5 /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现场备份：多花 1 分钟，后期少熬 3 小时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收音出问题几乎都是“现场没发现”；备份是最便宜的保险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第三课　Vlog 收音入门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10512"/>
            <a:ext cx="3502152" cy="1883664"/>
          </a:xfrm>
          <a:prstGeom prst="roundRect">
            <a:avLst>
              <a:gd name="adj" fmla="val 4854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1810512"/>
            <a:ext cx="54864" cy="1883664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011680"/>
            <a:ext cx="308152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① 录前试听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523744"/>
            <a:ext cx="3081528" cy="3448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戴上耳机录 10 秒回放，确认能听清、没爆音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1810512"/>
            <a:ext cx="3502152" cy="1883664"/>
          </a:xfrm>
          <a:prstGeom prst="roundRect">
            <a:avLst>
              <a:gd name="adj" fmla="val 4854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52544" y="1810512"/>
            <a:ext cx="54864" cy="188366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0288" y="2011680"/>
            <a:ext cx="308152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② 双路录制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523744"/>
            <a:ext cx="30815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领夹麦 + 手机内置麦同时录，后期挑好的一条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810512"/>
            <a:ext cx="3502152" cy="1883664"/>
          </a:xfrm>
          <a:prstGeom prst="roundRect">
            <a:avLst>
              <a:gd name="adj" fmla="val 4854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1810512"/>
            <a:ext cx="54864" cy="1883664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84464" y="2011680"/>
            <a:ext cx="308152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2E8B67"/>
                </a:solidFill>
                <a:latin typeface="微软雅黑"/>
                <a:ea typeface="微软雅黑"/>
                <a:cs typeface="微软雅黑"/>
              </a:rPr>
              <a:t>③ 单独录环境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523744"/>
            <a:ext cx="3081528" cy="3448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每个场景单独录 30 秒环境音，剪辑时铺底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895344"/>
            <a:ext cx="3502152" cy="1883664"/>
          </a:xfrm>
          <a:prstGeom prst="roundRect">
            <a:avLst>
              <a:gd name="adj" fmla="val 4854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8368" y="3895344"/>
            <a:ext cx="54864" cy="1883664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4096512"/>
            <a:ext cx="308152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④ 现场标记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608576"/>
            <a:ext cx="3081528" cy="3448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有噪声的条目录完立刻重拍，别指望后期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52544" y="3895344"/>
            <a:ext cx="3502152" cy="1883664"/>
          </a:xfrm>
          <a:prstGeom prst="roundRect">
            <a:avLst>
              <a:gd name="adj" fmla="val 4854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52544" y="3895344"/>
            <a:ext cx="54864" cy="188366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90288" y="4096512"/>
            <a:ext cx="308152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⑤ 拍手对轨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0288" y="4608576"/>
            <a:ext cx="3081528" cy="6348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多设备录制时，开机后拍一下手，方便后期对齐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3895344"/>
            <a:ext cx="3502152" cy="1883664"/>
          </a:xfrm>
          <a:prstGeom prst="roundRect">
            <a:avLst>
              <a:gd name="adj" fmla="val 4854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046720" y="3895344"/>
            <a:ext cx="54864" cy="1883664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84464" y="4096512"/>
            <a:ext cx="308152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2E8B67"/>
                </a:solidFill>
                <a:latin typeface="微软雅黑"/>
                <a:ea typeface="微软雅黑"/>
                <a:cs typeface="微软雅黑"/>
              </a:rPr>
              <a:t>⑥ 回听整条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4464" y="4608576"/>
            <a:ext cx="3081528" cy="3448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028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每个镜头拍完回听最后 5 秒，确认没断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EDE627B7-F857-4CF1-1316-0A5B845B0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081" y="-10764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排雷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收音常见问题与解决方案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对照这张表，现场就能判断问题出在哪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第三课　Vlog 收音入门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1792224"/>
          <a:ext cx="10875234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4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4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现象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原因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解决方案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风声“呼呼”响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麦克风没有防风措施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套防风毛套；或转身用身体挡风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声音发闷、像蒙了布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麦被衣服 / 包挡住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领夹麦别在衣领外侧；枪麦不要装包里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回声重、像在桶里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空旷硬墙房间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换有软装的房间；麦克风离嘴更近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“嗡嗡”电流声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接地干扰 / 电器噪声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远离电源、路由器、空调；改用电池供电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爆音、破音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音量过大或离嘴太近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拉开到 20cm；关掉自动增益，手动降一档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人声忽大忽小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开了自动增益（AGC）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关掉自动增益，后期统一音量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摩擦声、衣服声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麦与衣物摩擦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用防摩擦夹固定，线材留出活动余量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504688"/>
            <a:ext cx="10875234" cy="786384"/>
          </a:xfrm>
          <a:prstGeom prst="roundRect">
            <a:avLst>
              <a:gd name="adj" fmla="val 9302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5504688"/>
            <a:ext cx="64008" cy="78638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504688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现场判断口诀：闷 → 被挡住了；响 → 风；嗡 → 电；破 → 太近；晃 → 自动增益。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00B1894-CFF9-8F60-E6A8-A366859EF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081" y="-10764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标准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音量标准：让手机外放也听得清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剪辑时的目标值——记住三个数字就够了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第三课　Vlog 收音入门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pic>
        <p:nvPicPr>
          <p:cNvPr id="11" name="Picture 10" descr="s15_09_750x3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47088"/>
            <a:ext cx="6858000" cy="3648456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7882128" y="1847088"/>
            <a:ext cx="3651474" cy="1115568"/>
          </a:xfrm>
          <a:prstGeom prst="roundRect">
            <a:avLst>
              <a:gd name="adj" fmla="val 7377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82128" y="1847088"/>
            <a:ext cx="54864" cy="1115568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01584" y="1993392"/>
            <a:ext cx="324913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2E8B67"/>
                </a:solidFill>
                <a:latin typeface="微软雅黑"/>
                <a:ea typeface="微软雅黑"/>
                <a:cs typeface="微软雅黑"/>
              </a:rPr>
              <a:t>人声 -6dB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4" y="2414016"/>
            <a:ext cx="324913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整条片子的峰值天花板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8" y="3090672"/>
            <a:ext cx="3651474" cy="1115568"/>
          </a:xfrm>
          <a:prstGeom prst="roundRect">
            <a:avLst>
              <a:gd name="adj" fmla="val 7377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82128" y="3090672"/>
            <a:ext cx="54864" cy="1115568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01584" y="3236976"/>
            <a:ext cx="324913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音乐 -21dB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4" y="3657600"/>
            <a:ext cx="324913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比人声低约 15dB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8" y="4334256"/>
            <a:ext cx="3651474" cy="1115568"/>
          </a:xfrm>
          <a:prstGeom prst="roundRect">
            <a:avLst>
              <a:gd name="adj" fmla="val 7377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82128" y="4334256"/>
            <a:ext cx="54864" cy="1115568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01584" y="4480560"/>
            <a:ext cx="3249138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底噪 ≤ -45dB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4" y="4901184"/>
            <a:ext cx="3249138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高于这个值就该降噪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541264"/>
            <a:ext cx="10875234" cy="786384"/>
          </a:xfrm>
          <a:prstGeom prst="roundRect">
            <a:avLst>
              <a:gd name="adj" fmla="val 9302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" y="5541264"/>
            <a:ext cx="64008" cy="78638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2688" y="5541264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检查方法：剪辑软件里看波形——贴顶就是爆了，整条明显比别处矮就是音量不统一。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EA0BD763-D699-7CD2-16BE-DDCC7558A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4081" y="-10764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声音后期：五步把素材救回来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手机剪辑 App 里就能做完，全程不超过 5 分钟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第三课　Vlog 收音入门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10512"/>
            <a:ext cx="10875234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1810512"/>
            <a:ext cx="54864" cy="713232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1810512"/>
            <a:ext cx="149961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① 降噪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1810512"/>
            <a:ext cx="880869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先选中纯噪声片段采样，再整体降噪，强度别超过 60%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560320"/>
            <a:ext cx="1087523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" y="2560320"/>
            <a:ext cx="54864" cy="713232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2560320"/>
            <a:ext cx="149961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② 均衡 EQ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2560320"/>
            <a:ext cx="880869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切掉 80Hz 以下的低频轰鸣；人声加一点 3kHz 更清楚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310128"/>
            <a:ext cx="10875234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8368" y="3310128"/>
            <a:ext cx="54864" cy="713232"/>
          </a:xfrm>
          <a:prstGeom prst="rect">
            <a:avLst/>
          </a:prstGeom>
          <a:solidFill>
            <a:srgbClr val="2E8B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310128"/>
            <a:ext cx="149961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2E8B67"/>
                </a:solidFill>
                <a:latin typeface="微软雅黑"/>
                <a:ea typeface="微软雅黑"/>
                <a:cs typeface="微软雅黑"/>
              </a:rPr>
              <a:t>③ 压缩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7168" y="3310128"/>
            <a:ext cx="880869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把忽大忽小压平，动态范围变小，手机外放才听得清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059936"/>
            <a:ext cx="1087523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8DEE6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8368" y="4059936"/>
            <a:ext cx="54864" cy="713232"/>
          </a:xfrm>
          <a:prstGeom prst="rect">
            <a:avLst/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4059936"/>
            <a:ext cx="149961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14506B"/>
                </a:solidFill>
                <a:latin typeface="微软雅黑"/>
                <a:ea typeface="微软雅黑"/>
                <a:cs typeface="微软雅黑"/>
              </a:rPr>
              <a:t>④ 统一音量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87168" y="4059936"/>
            <a:ext cx="880869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整条片子人声峰值控制在 -6dB 左右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809744"/>
            <a:ext cx="10875234" cy="713232"/>
          </a:xfrm>
          <a:prstGeom prst="roundRect">
            <a:avLst>
              <a:gd name="adj" fmla="val 10256"/>
            </a:avLst>
          </a:prstGeom>
          <a:solidFill>
            <a:srgbClr val="F4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8368" y="4809744"/>
            <a:ext cx="54864" cy="713232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6112" y="4809744"/>
            <a:ext cx="1499616" cy="3186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5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⑤ 铺音乐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7168" y="4809744"/>
            <a:ext cx="880869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背景音乐比人声低 15~20dB，人说话时自动压低（闪避）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04688"/>
            <a:ext cx="10875234" cy="786384"/>
          </a:xfrm>
          <a:prstGeom prst="roundRect">
            <a:avLst>
              <a:gd name="adj" fmla="val 9302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5504688"/>
            <a:ext cx="64008" cy="78638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2688" y="5504688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顺序不能省：先降噪再压缩，否则噪声会被一起放大。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B77E442C-C0C7-3B4E-29C4-D15943E5F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081" y="-10764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案例分析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案例拆解：一条有声探店 Vlog 的声音设计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画面之外，声音也在讲故事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第三课　Vlog 收音入门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pic>
        <p:nvPicPr>
          <p:cNvPr id="11" name="Picture 10" descr="s17_09_585x2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92224"/>
            <a:ext cx="5349240" cy="2231136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658368" y="1792224"/>
            <a:ext cx="5349240" cy="384048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1792224"/>
            <a:ext cx="5020056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现场：环境音 + 领夹麦人声</a:t>
            </a:r>
          </a:p>
        </p:txBody>
      </p:sp>
      <p:pic>
        <p:nvPicPr>
          <p:cNvPr id="14" name="Picture 13" descr="s17_12_559x24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792224"/>
            <a:ext cx="5111496" cy="2231136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6419088" y="1792224"/>
            <a:ext cx="5111496" cy="384048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01968" y="1792224"/>
            <a:ext cx="4782312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旁白：回家后在安静房间单独录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58368" y="4187952"/>
          <a:ext cx="10875234" cy="2136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0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5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9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88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时间段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声音内容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音量处理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0–3s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街道环境音（车流、叫卖）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人声未出现，环境音 -20dB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先交代“在哪”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3–8s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老板人声出镜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人声 -6dB，环境音压到 -30dB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信息主轨进人声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8–30s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切菜、下锅、油爆声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细节音单独补录，提升 3dB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制造食欲与节奏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30–40s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旁白 + 轻音乐进入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旁白 -6dB，音乐 -24dB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补充信息，稳住情绪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40–45s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环境音回升 + 音乐收尾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环境音渐起，音乐淡出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留白，回到现场感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9" name="图片 18">
            <a:extLst>
              <a:ext uri="{FF2B5EF4-FFF2-40B4-BE49-F238E27FC236}">
                <a16:creationId xmlns:a16="http://schemas.microsoft.com/office/drawing/2014/main" id="{0DC66C65-9CDB-28E5-0800-077EEB2F8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4081" y="-10764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69494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本课知识点总结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097280"/>
            <a:ext cx="9631650" cy="2549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一句话：先把人声录干净，其他都可以慢慢来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536192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第三课　Vlog 收音入门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1792224"/>
          <a:ext cx="10875234" cy="3858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6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3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4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知识点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一句话要点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最容易搞错的地方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优先级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声音是及格线，画面是加分项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只顾画面，收音随手应付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三种声音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人声 / 环境音 / 音乐分开处理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把三者混在一路音轨里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设备选择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先看环境与走位，再看预算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为了省钱用手机远距离录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指向性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单人用心形，户外用超心形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拿全指向麦在闹市录口播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距离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人声控制在 20~50cm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手机放桌上远距离录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选软装房间、选安静时段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在空房间或空调旁录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备份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双路录制 + 单独录环境音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只录一路，现场没检查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音量标准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人声 -6dB，音乐低 15~20dB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音乐盖过人声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降噪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先采样噪声再降，强度不超 60%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降噪拉满，人声变“水下音”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522976"/>
            <a:ext cx="10875234" cy="530352"/>
          </a:xfrm>
          <a:prstGeom prst="roundRect">
            <a:avLst>
              <a:gd name="adj" fmla="val 13793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5522976"/>
            <a:ext cx="10911810" cy="293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唯一铁律：录之前戴耳机听 10 秒——观众听到的，和你听到的一样。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1CCA5A4-FDCF-BFF9-D219-5EF5F1E7F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081" y="-10764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429768"/>
            <a:ext cx="77724" cy="475488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347472"/>
            <a:ext cx="9631650" cy="23355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050" b="1">
                <a:solidFill>
                  <a:srgbClr val="E8813A"/>
                </a:solidFill>
                <a:latin typeface="微软雅黑"/>
                <a:ea typeface="微软雅黑"/>
                <a:cs typeface="微软雅黑"/>
              </a:rPr>
              <a:t>附录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66928"/>
            <a:ext cx="9357330" cy="505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1320"/>
              </a:lnSpc>
              <a:spcAft>
                <a:spcPts val="0"/>
              </a:spcAft>
            </a:pPr>
            <a:r>
              <a:rPr sz="2700" b="1">
                <a:solidFill>
                  <a:srgbClr val="1F2A37"/>
                </a:solidFill>
                <a:latin typeface="微软雅黑"/>
                <a:ea typeface="微软雅黑"/>
                <a:cs typeface="微软雅黑"/>
              </a:rPr>
              <a:t>图片与版权说明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1417320"/>
            <a:ext cx="10875234" cy="0"/>
          </a:xfrm>
          <a:prstGeom prst="line">
            <a:avLst/>
          </a:prstGeom>
          <a:ln w="1270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58368" y="6336792"/>
            <a:ext cx="10875234" cy="0"/>
          </a:xfrm>
          <a:prstGeom prst="line">
            <a:avLst/>
          </a:prstGeom>
          <a:ln w="9525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8" y="6428232"/>
            <a:ext cx="643737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拍摄教程 · 第三课　Vlog 收音入门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36322" y="6428232"/>
            <a:ext cx="1133856" cy="2080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4000"/>
              </a:lnSpc>
              <a:spcAft>
                <a:spcPts val="0"/>
              </a:spcAft>
            </a:pPr>
            <a:r>
              <a:rPr sz="9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92224"/>
            <a:ext cx="10911810" cy="35097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94300"/>
              </a:lnSpc>
              <a:spcAft>
                <a:spcPts val="0"/>
              </a:spcAft>
            </a:pPr>
            <a:r>
              <a:rPr sz="1200" b="0">
                <a:solidFill>
                  <a:srgbClr val="5A6675"/>
                </a:solidFill>
                <a:latin typeface="微软雅黑"/>
                <a:ea typeface="微软雅黑"/>
                <a:cs typeface="微软雅黑"/>
              </a:rPr>
              <a:t>本课件中的实拍示例图片来自公开网络，仅用于课堂教学演示；全部收音示意图（指向性、距离对比、三种方案、音量标准）为本课程自制。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2395728"/>
          <a:ext cx="10875233" cy="261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0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3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0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用途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图片内容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来源</a:t>
                      </a:r>
                    </a:p>
                  </a:txBody>
                  <a:tcPr marT="27432" marB="27432" anchor="ctr">
                    <a:solidFill>
                      <a:srgbClr val="14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封面 / 人物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中国创作者、口播与访谈场景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网络公开图片（教学演示）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环境对比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安静室内、嘈杂街头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网络公开图片（教学演示）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设备示例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麦克风、录音器材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网络公开图片（教学演示）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案例拆解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探店与旁白录制场景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网络公开图片（教学演示）</a:t>
                      </a:r>
                    </a:p>
                  </a:txBody>
                  <a:tcPr marT="27432" marB="27432"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收音示意图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指向性俯视图、距离对比、方案图、音量尺</a:t>
                      </a:r>
                      <a:endParaRPr sz="1200" b="0" dirty="0">
                        <a:solidFill>
                          <a:srgbClr val="1F2A37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本课程自制（可自由使用</a:t>
                      </a:r>
                      <a:r>
                        <a:rPr sz="1200" b="0" dirty="0">
                          <a:solidFill>
                            <a:srgbClr val="1F2A37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）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58368" y="5449824"/>
            <a:ext cx="10875234" cy="786384"/>
          </a:xfrm>
          <a:prstGeom prst="roundRect">
            <a:avLst>
              <a:gd name="adj" fmla="val 9302"/>
            </a:avLst>
          </a:prstGeom>
          <a:solidFill>
            <a:srgbClr val="1450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5449824"/>
            <a:ext cx="64008" cy="786384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449824"/>
            <a:ext cx="10363170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如需商业用途，请替换为自有素材或已授权图片；背景音乐请使用可商用曲库</a:t>
            </a:r>
            <a:r>
              <a:rPr sz="12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。</a:t>
            </a:r>
            <a:endParaRPr lang="en-US" sz="12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34000"/>
              </a:lnSpc>
            </a:pPr>
            <a:r>
              <a:rPr lang="zh-CN" altLang="en-US" sz="1200" b="1" dirty="0">
                <a:solidFill>
                  <a:srgbClr val="FFFFFF"/>
                </a:solidFill>
                <a:latin typeface="微软雅黑"/>
                <a:ea typeface="微软雅黑"/>
              </a:rPr>
              <a:t>本课程已在</a:t>
            </a:r>
            <a:r>
              <a:rPr lang="en-US" altLang="zh-CN" sz="1200" b="1" dirty="0">
                <a:solidFill>
                  <a:srgbClr val="FFFFFF"/>
                </a:solidFill>
                <a:latin typeface="微软雅黑"/>
                <a:ea typeface="微软雅黑"/>
              </a:rPr>
              <a:t>GitHub</a:t>
            </a:r>
            <a:r>
              <a:rPr lang="zh-CN" altLang="en-US" sz="1200" b="1" dirty="0">
                <a:solidFill>
                  <a:srgbClr val="FFFFFF"/>
                </a:solidFill>
                <a:latin typeface="微软雅黑"/>
                <a:ea typeface="微软雅黑"/>
              </a:rPr>
              <a:t>开源，如有需要自行前往搜索</a:t>
            </a:r>
            <a:r>
              <a:rPr lang="en-US" altLang="zh-CN" sz="1200" b="1" dirty="0">
                <a:solidFill>
                  <a:srgbClr val="FFFFFF"/>
                </a:solidFill>
                <a:latin typeface="微软雅黑"/>
                <a:ea typeface="微软雅黑"/>
              </a:rPr>
              <a:t>vlog-s-</a:t>
            </a:r>
            <a:r>
              <a:rPr lang="en-US" altLang="zh-CN" sz="1200" b="1" dirty="0" err="1">
                <a:solidFill>
                  <a:srgbClr val="FFFFFF"/>
                </a:solidFill>
                <a:latin typeface="微软雅黑"/>
                <a:ea typeface="微软雅黑"/>
              </a:rPr>
              <a:t>studyppt</a:t>
            </a:r>
            <a:r>
              <a:rPr lang="zh-CN" altLang="en-US" sz="1200" b="1" dirty="0">
                <a:solidFill>
                  <a:srgbClr val="FFFFFF"/>
                </a:solidFill>
                <a:latin typeface="微软雅黑"/>
                <a:ea typeface="微软雅黑"/>
              </a:rPr>
              <a:t>下载浏览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endParaRPr sz="1200" b="1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4C25E21-7332-0BA9-0D1F-C56490CF1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081" y="-10764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0E3A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21_01_693x7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0"/>
            <a:ext cx="6339810" cy="685800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0" y="0"/>
            <a:ext cx="6263640" cy="6858000"/>
          </a:xfrm>
          <a:prstGeom prst="rect">
            <a:avLst/>
          </a:prstGeom>
          <a:solidFill>
            <a:srgbClr val="0B2A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81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4974336" cy="259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00" b="1">
                <a:solidFill>
                  <a:srgbClr val="7FC4E0"/>
                </a:solidFill>
                <a:latin typeface="微软雅黑"/>
                <a:ea typeface="微软雅黑"/>
                <a:cs typeface="微软雅黑"/>
              </a:rPr>
              <a:t>第三课 · 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15184"/>
            <a:ext cx="5157216" cy="735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下一课：剪辑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3858768"/>
            <a:ext cx="2194560" cy="0"/>
          </a:xfrm>
          <a:prstGeom prst="line">
            <a:avLst/>
          </a:prstGeom>
          <a:ln w="38100">
            <a:solidFill>
              <a:srgbClr val="E881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4114800"/>
            <a:ext cx="5065776" cy="7934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207700"/>
              </a:lnSpc>
              <a:spcAft>
                <a:spcPts val="0"/>
              </a:spcAft>
            </a:pPr>
            <a:r>
              <a:rPr sz="1400" b="0">
                <a:solidFill>
                  <a:srgbClr val="A9C6D6"/>
                </a:solidFill>
                <a:latin typeface="微软雅黑"/>
                <a:ea typeface="微软雅黑"/>
                <a:cs typeface="微软雅黑"/>
              </a:rPr>
              <a:t>今天的作业：三组环境对比录音 + 一条完整声音后期</a:t>
            </a:r>
          </a:p>
          <a:p>
            <a:pPr algn="l">
              <a:lnSpc>
                <a:spcPct val="207700"/>
              </a:lnSpc>
              <a:spcAft>
                <a:spcPts val="0"/>
              </a:spcAft>
            </a:pPr>
            <a:r>
              <a:rPr sz="1400" b="0">
                <a:solidFill>
                  <a:srgbClr val="A9C6D6"/>
                </a:solidFill>
                <a:latin typeface="微软雅黑"/>
                <a:ea typeface="微软雅黑"/>
                <a:cs typeface="微软雅黑"/>
              </a:rPr>
              <a:t>把素材发到课程群，下节课统一点评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CD5A30D-98DB-2BE0-2A58-4936C161B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4081" y="-10764"/>
            <a:ext cx="2336800" cy="64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1420</Words>
  <Application>Microsoft Office PowerPoint</Application>
  <PresentationFormat>宽屏</PresentationFormat>
  <Paragraphs>413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等线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楚航 陆</cp:lastModifiedBy>
  <cp:revision>3</cp:revision>
  <dcterms:created xsi:type="dcterms:W3CDTF">2013-01-27T09:14:16Z</dcterms:created>
  <dcterms:modified xsi:type="dcterms:W3CDTF">2026-09-27T12:14:50Z</dcterms:modified>
  <cp:category/>
</cp:coreProperties>
</file>