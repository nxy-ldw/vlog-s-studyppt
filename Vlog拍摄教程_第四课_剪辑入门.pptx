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00_01_738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0"/>
            <a:ext cx="675129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46085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拍摄教程 · 系列课程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7914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Vlog 拍摄入门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745736" cy="89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9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第四课　剪辑：
同样的素材，剪出完全不同的节奏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675888"/>
            <a:ext cx="205740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913632"/>
            <a:ext cx="4700016" cy="1004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适用对象：手机 / 电脑剪辑的 Vlog 创作者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课程时长：约 90 分钟（含随堂练习）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本课重点：流程 · 节奏 · 转场 · 字幕 · 调色 · 导出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4068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22768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开始学习 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73E6110-B733-5536-6594-65E46D2E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本课程学什么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第一课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构图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三分法 · 对称 · 引导线
框架 · 景深 · 留白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4504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5672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第二课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5672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运镜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5672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5672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推拉 · 摇 · 移 · 跟随
升降 · 环绕 · 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5672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5672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0641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1809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第三课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1809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收音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71809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71809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设备选择 · 麦克风
降噪 · 人声处理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1809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71809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6777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76777" y="1755648"/>
            <a:ext cx="2050688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7945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第四课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7945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剪辑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77945" y="2798064"/>
            <a:ext cx="1648352" cy="0"/>
          </a:xfrm>
          <a:prstGeom prst="line">
            <a:avLst/>
          </a:prstGeom>
          <a:ln w="12700">
            <a:solidFill>
              <a:srgbClr val="2E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77945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C3DAE6"/>
                </a:solidFill>
                <a:latin typeface="微软雅黑"/>
                <a:ea typeface="微软雅黑"/>
                <a:cs typeface="微软雅黑"/>
              </a:rPr>
              <a:t>粗剪 · 节奏 · 转场
字幕 · 调色 · 导出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7945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7945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913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4081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第五课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4081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脚本思路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84081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84081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选题 · 钩子 · 结构
分镜 · 台词 · 复盘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4081" y="4425696"/>
            <a:ext cx="699516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84081" y="4425696"/>
            <a:ext cx="73609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下一课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38928"/>
            <a:ext cx="10875234" cy="859536"/>
          </a:xfrm>
          <a:prstGeom prst="roundRect">
            <a:avLst>
              <a:gd name="adj" fmla="val 8510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138928"/>
            <a:ext cx="64008" cy="85953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五课一条线：构图决定好不好看，运镜决定动不动，收音决定听得清不清，剪辑决定节奏，脚本决定有没有人看下去。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43AFCB18-7E7B-1EFA-ABA4-E52E9E32D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剪辑到底在做什么？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剪辑不是“把拍到的按顺序拼起来”，而是重新安排信息出现的顺序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6675120" cy="2304288"/>
          </a:xfrm>
          <a:prstGeom prst="roundRect">
            <a:avLst>
              <a:gd name="adj" fmla="val 396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61630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剪辑做的四件事</a:t>
            </a:r>
          </a:p>
        </p:txBody>
      </p:sp>
      <p:sp>
        <p:nvSpPr>
          <p:cNvPr id="13" name="Oval 12"/>
          <p:cNvSpPr/>
          <p:nvPr/>
        </p:nvSpPr>
        <p:spPr>
          <a:xfrm>
            <a:off x="982980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2432304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选——从几十分钟素材里挑出能用的两三分钟</a:t>
            </a:r>
          </a:p>
        </p:txBody>
      </p:sp>
      <p:sp>
        <p:nvSpPr>
          <p:cNvPr id="15" name="Oval 14"/>
          <p:cNvSpPr/>
          <p:nvPr/>
        </p:nvSpPr>
        <p:spPr>
          <a:xfrm>
            <a:off x="982980" y="28808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2812288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排——决定先讲什么、后讲什么，制造期待与揭晓</a:t>
            </a:r>
          </a:p>
        </p:txBody>
      </p:sp>
      <p:sp>
        <p:nvSpPr>
          <p:cNvPr id="17" name="Oval 16"/>
          <p:cNvSpPr/>
          <p:nvPr/>
        </p:nvSpPr>
        <p:spPr>
          <a:xfrm>
            <a:off x="982980" y="326085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3192272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压——去掉废话与等待，把节奏收紧</a:t>
            </a:r>
          </a:p>
        </p:txBody>
      </p:sp>
      <p:sp>
        <p:nvSpPr>
          <p:cNvPr id="19" name="Oval 18"/>
          <p:cNvSpPr/>
          <p:nvPr/>
        </p:nvSpPr>
        <p:spPr>
          <a:xfrm>
            <a:off x="982980" y="364083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3572256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润——字幕、音乐、调色、转场，让片子“像成品”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2088" y="1828800"/>
            <a:ext cx="3968496" cy="2304288"/>
          </a:xfrm>
          <a:prstGeom prst="roundRect">
            <a:avLst>
              <a:gd name="adj" fmla="val 396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2011680"/>
            <a:ext cx="3511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一句话记住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377440"/>
            <a:ext cx="35112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1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拍是“取材”，
剪是“讲故事”。
素材不够，剪不出来；
素材再好，剪不好也白拍。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334256"/>
            <a:ext cx="1091181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好剪辑的三个标准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01184"/>
            <a:ext cx="45720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4864608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看得下去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266944"/>
            <a:ext cx="313639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节奏不拖，观众不划走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52544" y="4901184"/>
            <a:ext cx="45720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4864608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看得明白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266944"/>
            <a:ext cx="313639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信息顺序清楚，不需要猜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4901184"/>
            <a:ext cx="45720" cy="89611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66176" y="4864608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记得住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5266944"/>
            <a:ext cx="313639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有一个画面或一句话被留下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AF3EBFF-F5DF-7059-476A-B8D6F4E54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剪辑软件怎么选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不用纠结：手机先剪 20 条，再决定要不要上电脑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4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上手难度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适合谁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剪映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 / 电脑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新手、日更、短视频为主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免费（部分素材付费）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CapCut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 / 电脑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同上，海外平台发布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免费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必剪 / 快影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国内平台日更创作者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Premiere Pro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需要精细控制、接商单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订阅制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Final Cut Pro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 用户、追求流畅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一次性买断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达芬奇 DaVinci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重视调色与画面质感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免费版够用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建议：先用剪映剪 20 条 30 秒短片；等你能说出“它哪里不够用”时，再去学专业软件，效率最高。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8198D2D-EFCD-C21C-C3D7-855977A01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剪辑六步工作流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按顺序做，不要一遍就想剪到完美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700784" cy="6858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导入整理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建文件夹、按时间排序、删掉明显废片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370125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96312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96312" y="1883664"/>
            <a:ext cx="1700784" cy="6858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42616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② 粗剪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把能用的片段按顺序排好，不管节奏和对齐</a:t>
            </a:r>
          </a:p>
        </p:txBody>
      </p:sp>
      <p:sp>
        <p:nvSpPr>
          <p:cNvPr id="20" name="Isosceles Triangle 19"/>
          <p:cNvSpPr/>
          <p:nvPr/>
        </p:nvSpPr>
        <p:spPr>
          <a:xfrm>
            <a:off x="4208069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34256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883664"/>
            <a:ext cx="1700784" cy="6858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③ 精剪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掐头去尾、去掉停顿、调整镜头顺序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6046013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1883664"/>
            <a:ext cx="1700784" cy="6858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④ 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降噪、统一音量、配乐、卡点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7883957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10144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10144" y="1883664"/>
            <a:ext cx="1700784" cy="6858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8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⑤ 字幕与包装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标题、字幕、贴纸、进度条</a:t>
            </a:r>
          </a:p>
        </p:txBody>
      </p:sp>
      <p:sp>
        <p:nvSpPr>
          <p:cNvPr id="35" name="Isosceles Triangle 34"/>
          <p:cNvSpPr/>
          <p:nvPr/>
        </p:nvSpPr>
        <p:spPr>
          <a:xfrm>
            <a:off x="9721901" y="2926080"/>
            <a:ext cx="109728" cy="182880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48088" y="1883664"/>
            <a:ext cx="1700784" cy="2377440"/>
          </a:xfrm>
          <a:prstGeom prst="roundRect">
            <a:avLst>
              <a:gd name="adj" fmla="val 483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48088" y="1883664"/>
            <a:ext cx="1700784" cy="6858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94392" y="2066544"/>
            <a:ext cx="1444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⑥ 调色与导出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2523744"/>
            <a:ext cx="1444752" cy="5551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76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统一色调、加片尾、按平台导出</a:t>
            </a:r>
          </a:p>
        </p:txBody>
      </p:sp>
      <p:pic>
        <p:nvPicPr>
          <p:cNvPr id="40" name="Picture 39" descr="s04_38_755x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98848"/>
            <a:ext cx="6903720" cy="1243584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7699248" y="4498848"/>
            <a:ext cx="3834354" cy="1243584"/>
          </a:xfrm>
          <a:prstGeom prst="roundRect">
            <a:avLst>
              <a:gd name="adj" fmla="val 588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699248" y="4498848"/>
            <a:ext cx="64008" cy="12435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36992" y="4626864"/>
            <a:ext cx="3413730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新手最容易跳过第 ② 步（粗剪），直接在时间线上反复微调，结果两小时只剪了 20 秒。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Rectangle 44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记住：粗剪求“全”，精剪求“准”，调色求“统一”。三件事不要同时做。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1B97E69-0A1F-E2E9-72E3-33C6B180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基本功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认识时间线：剪辑的四个轨道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看懂这张图，就知道剪辑软件里每一层在干什么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11" name="Picture 10" descr="s05_09_750x2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6858000" cy="2615184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792224"/>
            <a:ext cx="3651474" cy="768096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82128" y="1792224"/>
            <a:ext cx="54864" cy="7680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6" y="1865376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画面轨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94560"/>
            <a:ext cx="3285714" cy="28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视频片段，从上到下叠放，上层遮住下层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2615184"/>
            <a:ext cx="3651474" cy="768096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8" y="2615184"/>
            <a:ext cx="54864" cy="7680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2688336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原声轨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017520"/>
            <a:ext cx="3285714" cy="28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现场录的声音，跟着画面一起走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3438144"/>
            <a:ext cx="3651474" cy="768096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3438144"/>
            <a:ext cx="54864" cy="768096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83296" y="3511296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音乐轨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840480"/>
            <a:ext cx="3285714" cy="28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背景音乐与音效，独立控制音量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8" y="4261104"/>
            <a:ext cx="3651474" cy="768096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2128" y="4261104"/>
            <a:ext cx="54864" cy="768096"/>
          </a:xfrm>
          <a:prstGeom prst="rect">
            <a:avLst/>
          </a:prstGeom>
          <a:solidFill>
            <a:srgbClr val="6E8C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3296" y="4334256"/>
            <a:ext cx="328571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6E8CA5"/>
                </a:solidFill>
                <a:latin typeface="微软雅黑"/>
                <a:ea typeface="微软雅黑"/>
                <a:cs typeface="微软雅黑"/>
              </a:rPr>
              <a:t>字幕轨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663440"/>
            <a:ext cx="3285714" cy="28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标题与字幕，独立调整样式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13892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13892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剪辑的本质：把画面、声音、字幕三条轨道，对齐到同一条节奏上。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035040"/>
            <a:ext cx="10875234" cy="256032"/>
          </a:xfrm>
          <a:prstGeom prst="roundRect">
            <a:avLst>
              <a:gd name="adj" fmla="val 21428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6035040"/>
            <a:ext cx="10546050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快捷键先记三个：分割（Ctrl/Cmd+B）、删除（Delete）、撤销（Ctrl/Cmd+Z）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D4A474B-AD3B-4BD7-EFED-BC26EF7C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2148840"/>
            <a:ext cx="369417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200" b="1">
                <a:solidFill>
                  <a:srgbClr val="2E6F8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10128"/>
            <a:ext cx="88148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节奏与结构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86319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A8C2D4"/>
                </a:solidFill>
                <a:latin typeface="微软雅黑"/>
                <a:ea typeface="微软雅黑"/>
                <a:cs typeface="微软雅黑"/>
              </a:rPr>
              <a:t>时长 · 卡点 · 转场 · 字幕 · 调色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4892040"/>
            <a:ext cx="3474720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7FA0B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FBC07C0-C456-44D1-9A9A-4E899711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6 · 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变速与卡点：两个立刻见效的技巧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不用换设备、不用重拍，只靠时间线上的操作就能提升观感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5349240" cy="2523744"/>
          </a:xfrm>
          <a:prstGeom prst="roundRect">
            <a:avLst>
              <a:gd name="adj" fmla="val 36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47088"/>
            <a:ext cx="5349240" cy="82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48256"/>
            <a:ext cx="4873752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变速：慢动作与快进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23744"/>
            <a:ext cx="48737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改变片段的播放速度，用时间本身表达情绪。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9763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907792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慢动作（0.3~0.5 倍）：液体、油烟、回头、水花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3223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253740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快进（2~8 倍）：走路过程、长时间等待、备菜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" y="36682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599688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曲线变速：前段慢、后段快，做出“加速感”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" y="40142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3945636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注意：慢动作需要原片帧率够高，否则会卡顿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1847088"/>
            <a:ext cx="5111496" cy="2523744"/>
          </a:xfrm>
          <a:prstGeom prst="roundRect">
            <a:avLst>
              <a:gd name="adj" fmla="val 362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19088" y="1847088"/>
            <a:ext cx="5111496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2048256"/>
            <a:ext cx="463600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卡点：把切点钉在重音上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23744"/>
            <a:ext cx="46360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先放音乐、再剪画面，而不是剪完再配乐。</a:t>
            </a:r>
          </a:p>
        </p:txBody>
      </p:sp>
      <p:sp>
        <p:nvSpPr>
          <p:cNvPr id="27" name="Oval 26"/>
          <p:cNvSpPr/>
          <p:nvPr/>
        </p:nvSpPr>
        <p:spPr>
          <a:xfrm>
            <a:off x="6725412" y="29763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4576" y="2907792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第一步：把音乐拖到时间线，先看波形找重音</a:t>
            </a:r>
          </a:p>
        </p:txBody>
      </p:sp>
      <p:sp>
        <p:nvSpPr>
          <p:cNvPr id="29" name="Oval 28"/>
          <p:cNvSpPr/>
          <p:nvPr/>
        </p:nvSpPr>
        <p:spPr>
          <a:xfrm>
            <a:off x="6725412" y="33223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94576" y="3253740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第二步：在重音位置打标记（M 键或手动分割）</a:t>
            </a:r>
          </a:p>
        </p:txBody>
      </p:sp>
      <p:sp>
        <p:nvSpPr>
          <p:cNvPr id="31" name="Oval 30"/>
          <p:cNvSpPr/>
          <p:nvPr/>
        </p:nvSpPr>
        <p:spPr>
          <a:xfrm>
            <a:off x="6725412" y="366826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94576" y="3599688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第三步：让每个镜头的切换落在标记上</a:t>
            </a:r>
          </a:p>
        </p:txBody>
      </p:sp>
      <p:sp>
        <p:nvSpPr>
          <p:cNvPr id="33" name="Oval 32"/>
          <p:cNvSpPr/>
          <p:nvPr/>
        </p:nvSpPr>
        <p:spPr>
          <a:xfrm>
            <a:off x="6725412" y="40142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94576" y="3945636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第四步：卡点段落每镜 1~2 秒，不要拖长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5A539D06-6422-70CC-9D7B-F5340750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6 · 包装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标题与文字设计：小字也要讲究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同一个画面，加不加文字、怎么加，专业度差距很明显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2048256"/>
          </a:xfrm>
          <a:prstGeom prst="roundRect">
            <a:avLst>
              <a:gd name="adj" fmla="val 4464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75104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推荐做法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4602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37744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整片只用 1~2 种字体，标题加粗、正文常规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76453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69595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文字下方加半透明色块或描边，任何背景都看得清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083052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014472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关键数字放大（价格、时长、数量）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810512"/>
            <a:ext cx="5111496" cy="2048256"/>
          </a:xfrm>
          <a:prstGeom prst="roundRect">
            <a:avLst>
              <a:gd name="adj" fmla="val 4464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975104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常见问题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244602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237744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一屏五六种字体，像路边小广告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76453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69595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文字压在亮背景上，看不清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3083052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3014472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动画花哨（旋转、弹跳），观众读不完</a:t>
            </a:r>
          </a:p>
        </p:txBody>
      </p:sp>
      <p:pic>
        <p:nvPicPr>
          <p:cNvPr id="27" name="Picture 26" descr="s08_25_585x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023360"/>
            <a:ext cx="5349240" cy="162763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419088" y="4023360"/>
            <a:ext cx="5111496" cy="1627632"/>
          </a:xfrm>
          <a:prstGeom prst="roundRect">
            <a:avLst>
              <a:gd name="adj" fmla="val 5617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9088" y="4023360"/>
            <a:ext cx="64008" cy="162763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187952"/>
            <a:ext cx="463600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文字停留时长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572000"/>
            <a:ext cx="4636008" cy="9432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短句：至少停留 1.5 秒；
长句按“字数 ÷ 每秒 5 字”估算，再加 0.5 秒。
宁可多停半秒，也不要一闪而过。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34EDB00-3043-0BDA-E74F-54ECC7FA8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同一批素材，两种节奏对比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剪辑的功力，体现在“哪里快、哪里慢”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慢节奏版（记录感）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快节奏版（爽感）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单镜时长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4~8 秒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1~2 秒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切点位置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自然停顿处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音乐重音处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轻音乐，音量低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节奏感强的卡点音乐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字幕密度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少而大，一句一屏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密而快，跟着画面跳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适合内容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风景、旅行、情绪、生活记录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探店、开箱、教程、快剪混剪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适合平台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站、YouTube、视频号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抖音、快手、小红书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结论：先想清楚“这条片子要什么感觉”，再决定节奏——而不是剪完才发现节奏不对。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BCD37DD-E81F-E3D1-4CF7-0C5C9DF58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节奏：镜头时长决定观感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同一条音乐，切点不同，片子就是两种气质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11" name="Picture 10" descr="s10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83664"/>
            <a:ext cx="3651474" cy="1243584"/>
          </a:xfrm>
          <a:prstGeom prst="roundRect">
            <a:avLst>
              <a:gd name="adj" fmla="val 661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82128" y="1883664"/>
            <a:ext cx="54864" cy="124358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1584" y="204825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3 秒法则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2487168"/>
            <a:ext cx="3249138" cy="33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49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每个镜头 2~4 秒，是短视频最舒服的节奏区间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3255264"/>
            <a:ext cx="3651474" cy="1243584"/>
          </a:xfrm>
          <a:prstGeom prst="roundRect">
            <a:avLst>
              <a:gd name="adj" fmla="val 661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8" y="3255264"/>
            <a:ext cx="54864" cy="12435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4" y="341985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卡点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3858768"/>
            <a:ext cx="3249138" cy="33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49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切点落在音乐重音上，观众会觉得“很专业”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4626864"/>
            <a:ext cx="3651474" cy="1243584"/>
          </a:xfrm>
          <a:prstGeom prst="roundRect">
            <a:avLst>
              <a:gd name="adj" fmla="val 661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4626864"/>
            <a:ext cx="54864" cy="124358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4" y="479145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长短交替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5230368"/>
            <a:ext cx="3249138" cy="3366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49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连续快切之后给一个长镜头，画面才有呼吸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D0E4743-0602-F068-7A1B-500FF179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开头三秒：决定一半的完播率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把最好的画面、最狠的一句话放在最前面，而不是慢慢铺垫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pic>
        <p:nvPicPr>
          <p:cNvPr id="11" name="Picture 10" descr="s11_09_750x3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6858000" cy="364845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47088"/>
            <a:ext cx="3651474" cy="2011680"/>
          </a:xfrm>
          <a:prstGeom prst="roundRect">
            <a:avLst>
              <a:gd name="adj" fmla="val 4545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2011680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好的开头</a:t>
            </a:r>
          </a:p>
        </p:txBody>
      </p:sp>
      <p:sp>
        <p:nvSpPr>
          <p:cNvPr id="14" name="Oval 13"/>
          <p:cNvSpPr/>
          <p:nvPr/>
        </p:nvSpPr>
        <p:spPr>
          <a:xfrm>
            <a:off x="8170164" y="248259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2414016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第一帧就是最亮的画面</a:t>
            </a:r>
          </a:p>
        </p:txBody>
      </p:sp>
      <p:sp>
        <p:nvSpPr>
          <p:cNvPr id="16" name="Oval 15"/>
          <p:cNvSpPr/>
          <p:nvPr/>
        </p:nvSpPr>
        <p:spPr>
          <a:xfrm>
            <a:off x="8170164" y="2791968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723388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第一句就是结论或悬念</a:t>
            </a:r>
          </a:p>
        </p:txBody>
      </p:sp>
      <p:sp>
        <p:nvSpPr>
          <p:cNvPr id="18" name="Oval 17"/>
          <p:cNvSpPr/>
          <p:nvPr/>
        </p:nvSpPr>
        <p:spPr>
          <a:xfrm>
            <a:off x="8170164" y="310134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03276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三秒内出现人物或动作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4023360"/>
            <a:ext cx="3651474" cy="2011680"/>
          </a:xfrm>
          <a:prstGeom prst="roundRect">
            <a:avLst>
              <a:gd name="adj" fmla="val 4545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4187952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常见的坏开头</a:t>
            </a:r>
          </a:p>
        </p:txBody>
      </p:sp>
      <p:sp>
        <p:nvSpPr>
          <p:cNvPr id="22" name="Oval 21"/>
          <p:cNvSpPr/>
          <p:nvPr/>
        </p:nvSpPr>
        <p:spPr>
          <a:xfrm>
            <a:off x="8170164" y="4658868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4590288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片头 Logo 动画 5 秒</a:t>
            </a:r>
          </a:p>
        </p:txBody>
      </p:sp>
      <p:sp>
        <p:nvSpPr>
          <p:cNvPr id="24" name="Oval 23"/>
          <p:cNvSpPr/>
          <p:nvPr/>
        </p:nvSpPr>
        <p:spPr>
          <a:xfrm>
            <a:off x="8170164" y="496824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489966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黑屏 + 字幕“大家好”</a:t>
            </a:r>
          </a:p>
        </p:txBody>
      </p:sp>
      <p:sp>
        <p:nvSpPr>
          <p:cNvPr id="26" name="Oval 25"/>
          <p:cNvSpPr/>
          <p:nvPr/>
        </p:nvSpPr>
        <p:spPr>
          <a:xfrm>
            <a:off x="8170164" y="5277612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8" y="520903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先拍一路走路，30 秒后才说话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9B776CA-4198-6663-B79D-68F76839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转场：能用切就别用特效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90% 的转场应该是“硬切”，剩下 10% 才用技巧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5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转场方式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怎么做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什么时候用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硬切（推荐）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直接切到下一个镜头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同场景、同时间线内的镜头切换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占全片 90% 以上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动作接动作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上一个镜头抬手，下一个镜头接到动作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连贯动作、走路、开门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动作要连贯不重复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遮挡转场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让物体 / 人挡满画面时切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换场景、换时间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遮挡物要占满画面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甩镜转场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两段朝同方向快速甩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快节奏、卡点段落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方向一致、速度够快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淡入淡出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黑场过渡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段落之间、片头片尾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用多了显业余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花式特效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缩放、旋转、故障风等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特殊风格化表达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整片别超过两处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判断标准：观众如果“注意到转场”，说明这个转场太抢戏了。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468C3EA-DCF8-72F3-FB82-F7086AEB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字幕与安全区：别让人脸被字压住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竖屏 Vlog 的字幕位置和标题位置，都有固定规矩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pic>
        <p:nvPicPr>
          <p:cNvPr id="11" name="Picture 10" descr="s13_09_229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210312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3035808" y="1883664"/>
            <a:ext cx="8497794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048256"/>
            <a:ext cx="802230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字幕规范</a:t>
            </a:r>
          </a:p>
        </p:txBody>
      </p:sp>
      <p:sp>
        <p:nvSpPr>
          <p:cNvPr id="14" name="Oval 13"/>
          <p:cNvSpPr/>
          <p:nvPr/>
        </p:nvSpPr>
        <p:spPr>
          <a:xfrm>
            <a:off x="3342132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432304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每行不超过 12~14 个字，最多两行</a:t>
            </a:r>
          </a:p>
        </p:txBody>
      </p:sp>
      <p:sp>
        <p:nvSpPr>
          <p:cNvPr id="16" name="Oval 15"/>
          <p:cNvSpPr/>
          <p:nvPr/>
        </p:nvSpPr>
        <p:spPr>
          <a:xfrm>
            <a:off x="3342132" y="281025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2741676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底部居中，距底边留 10%~15% 空间</a:t>
            </a:r>
          </a:p>
        </p:txBody>
      </p:sp>
      <p:sp>
        <p:nvSpPr>
          <p:cNvPr id="18" name="Oval 17"/>
          <p:cNvSpPr/>
          <p:nvPr/>
        </p:nvSpPr>
        <p:spPr>
          <a:xfrm>
            <a:off x="3342132" y="311962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3051048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字号够大：手机上看一眼就能读清</a:t>
            </a:r>
          </a:p>
        </p:txBody>
      </p:sp>
      <p:sp>
        <p:nvSpPr>
          <p:cNvPr id="20" name="Oval 19"/>
          <p:cNvSpPr/>
          <p:nvPr/>
        </p:nvSpPr>
        <p:spPr>
          <a:xfrm>
            <a:off x="3342132" y="34290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11296" y="3360420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整片同一字体、同一位置、同一颜色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35808" y="3913632"/>
            <a:ext cx="8497794" cy="1901952"/>
          </a:xfrm>
          <a:prstGeom prst="roundRect">
            <a:avLst>
              <a:gd name="adj" fmla="val 4807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35808" y="3913632"/>
            <a:ext cx="64008" cy="190195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4078224"/>
            <a:ext cx="802230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三个效率技巧</a:t>
            </a:r>
          </a:p>
        </p:txBody>
      </p:sp>
      <p:sp>
        <p:nvSpPr>
          <p:cNvPr id="25" name="Oval 24"/>
          <p:cNvSpPr/>
          <p:nvPr/>
        </p:nvSpPr>
        <p:spPr>
          <a:xfrm>
            <a:off x="3342132" y="453085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11296" y="4462272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先用“自动识别字幕”，再手动改错字</a:t>
            </a:r>
          </a:p>
        </p:txBody>
      </p:sp>
      <p:sp>
        <p:nvSpPr>
          <p:cNvPr id="27" name="Oval 26"/>
          <p:cNvSpPr/>
          <p:nvPr/>
        </p:nvSpPr>
        <p:spPr>
          <a:xfrm>
            <a:off x="3342132" y="484022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11296" y="4771644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把常用字幕样式存为预设，一次设置全片复用</a:t>
            </a:r>
          </a:p>
        </p:txBody>
      </p:sp>
      <p:sp>
        <p:nvSpPr>
          <p:cNvPr id="29" name="Oval 28"/>
          <p:cNvSpPr/>
          <p:nvPr/>
        </p:nvSpPr>
        <p:spPr>
          <a:xfrm>
            <a:off x="3342132" y="514959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11296" y="5081016"/>
            <a:ext cx="780285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关键句加“重点色”或放大，普通句保持朴素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B26F01F-6116-7059-8C15-62227BFCF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调色：让全片“像一套片子”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新手不需要复杂调色，只要做对三件事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10875234" cy="877824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4864" cy="87782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810512"/>
            <a:ext cx="177393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统一曝光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810512"/>
            <a:ext cx="85343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把偏亮偏暗的镜头拉到同一水平，别忽明忽暗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61488"/>
            <a:ext cx="10875234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761488"/>
            <a:ext cx="54864" cy="87782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761488"/>
            <a:ext cx="177393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② 统一色温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761488"/>
            <a:ext cx="85343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室内偏黄、室外偏蓝要拉齐，全片色调一致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12464"/>
            <a:ext cx="10875234" cy="877824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712464"/>
            <a:ext cx="54864" cy="87782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12464"/>
            <a:ext cx="177393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③ 加一点风格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712464"/>
            <a:ext cx="85343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套一个统一滤镜 / LUT，强度 30% 以内</a:t>
            </a:r>
          </a:p>
        </p:txBody>
      </p:sp>
      <p:pic>
        <p:nvPicPr>
          <p:cNvPr id="23" name="Picture 22" descr="s14_21_585x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90288"/>
            <a:ext cx="5349240" cy="104241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pic>
        <p:nvPicPr>
          <p:cNvPr id="24" name="Picture 23" descr="s14_22_559x1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590288"/>
            <a:ext cx="5111496" cy="104241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调色三不要：不要每段颜色都不一样；不要饱和度过高；不要为了“高级感”把人脸调成灰绿色。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9FA8414-8683-A43C-118E-4CF34B074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导出参数：一次设置好，以后不用改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参数选错，前面剪得再好也会被压缩糊掉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295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发布平台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分辨率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帧率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码率建议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比例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抖音 / 快手 / 视频号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1080×1920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30fps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8~12 Mbps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9:16 竖屏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小红书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1080×1920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30fps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8~12 Mbps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9:16 竖屏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站 / YouTube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1920×1080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或 60fps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12~20 Mbps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16:9 横屏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朋友圈 / 微信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1080×1920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30fps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6~8 Mbps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9:16 竖屏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7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留档 / 再剪辑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原始分辨率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原始帧率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最高码率（ProRes / 高码率 H.264）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原始比例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三个原则：竖屏平台就发竖屏；帧率不要改来改去；永远留一份最高码率的原片存档。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8E1059B-F363-B82D-5088-4F55F63EF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避坑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背景音乐：选对 + 用对 + 不侵权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音乐是情绪的一半，但也是最容易踩版权坑的地方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2103120"/>
          </a:xfrm>
          <a:prstGeom prst="roundRect">
            <a:avLst>
              <a:gd name="adj" fmla="val 4347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75104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安全做法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4602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37744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用平台自带曲库（剪映、B 站音乐库等）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77368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70510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用可商用版权曲库（付费订阅）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10134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03276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自己录环境音或用无版权音效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810512"/>
            <a:ext cx="5111496" cy="2103120"/>
          </a:xfrm>
          <a:prstGeom prst="roundRect">
            <a:avLst>
              <a:gd name="adj" fmla="val 4347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975104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高风险做法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244602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237744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直接用热门流行歌当背景音乐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77368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70510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把影视原声剪进去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310134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303276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搬运别人的视频再配乐</a:t>
            </a:r>
          </a:p>
        </p:txBody>
      </p:sp>
      <p:pic>
        <p:nvPicPr>
          <p:cNvPr id="27" name="Picture 26" descr="s16_25_585x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078224"/>
            <a:ext cx="5349240" cy="157276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419088" y="4078224"/>
            <a:ext cx="5111496" cy="1572768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61104"/>
            <a:ext cx="463600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音乐怎么用才不吵</a:t>
            </a:r>
          </a:p>
        </p:txBody>
      </p:sp>
      <p:sp>
        <p:nvSpPr>
          <p:cNvPr id="30" name="Oval 29"/>
          <p:cNvSpPr/>
          <p:nvPr/>
        </p:nvSpPr>
        <p:spPr>
          <a:xfrm>
            <a:off x="6725412" y="471373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94576" y="4645152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音乐比人声低 15~20dB</a:t>
            </a:r>
          </a:p>
        </p:txBody>
      </p:sp>
      <p:sp>
        <p:nvSpPr>
          <p:cNvPr id="32" name="Oval 31"/>
          <p:cNvSpPr/>
          <p:nvPr/>
        </p:nvSpPr>
        <p:spPr>
          <a:xfrm>
            <a:off x="6725412" y="50139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94576" y="4945380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说话时自动压低音乐（闪避 / Ducking）</a:t>
            </a:r>
          </a:p>
        </p:txBody>
      </p:sp>
      <p:sp>
        <p:nvSpPr>
          <p:cNvPr id="34" name="Oval 33"/>
          <p:cNvSpPr/>
          <p:nvPr/>
        </p:nvSpPr>
        <p:spPr>
          <a:xfrm>
            <a:off x="6725412" y="53141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94576" y="5245608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副歌留给情绪高点，别从头到尾满音量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88C48FD4-A4EE-E55E-D56A-BB17A651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案例拆解：60 秒探店 Vlog 的剪辑表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把“节奏”变成可以照着执行的时间表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pic>
        <p:nvPicPr>
          <p:cNvPr id="11" name="Picture 10" descr="s17_09_585x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2224"/>
            <a:ext cx="5349240" cy="21031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58368" y="1792224"/>
            <a:ext cx="5349240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792224"/>
            <a:ext cx="50200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画面：探店场景素材</a:t>
            </a:r>
          </a:p>
        </p:txBody>
      </p:sp>
      <p:pic>
        <p:nvPicPr>
          <p:cNvPr id="14" name="Picture 13" descr="s17_12_559x2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92224"/>
            <a:ext cx="5111496" cy="21031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419088" y="1792224"/>
            <a:ext cx="5111496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478231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剪辑：手机 App 完成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4059936"/>
          <a:ext cx="10875234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5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时间段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镜头节奏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字幕 / 包装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0–3s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个快切（每镜 1 秒）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环境音 + 音乐起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大标题：一句话钩子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3–10s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每镜 3 秒，交代环境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人声进入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地点标注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10–35s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每镜 2~4 秒，卡点切换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人声为主，音乐压低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 / 亮点字幕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35–50s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个长镜头（各 5 秒）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 + 音乐渐强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重点句放大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50–60s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回到开场画面，定格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音乐收尾淡出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结束语 + 引导关注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DFA2C36A-82EA-A6B3-AB68-8DE0A2D3E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本课知识点总结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一句话：剪辑是把“素材”变成“作品”的那一步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一句话要点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最容易搞错的地方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剪辑本质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重新安排信息出现的顺序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只按拍摄顺序拼起来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工作流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 → 粗剪 → 精剪 → 声音 → 字幕 → 调色导出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跳过粗剪，直接精雕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每镜 2~4 秒，重音处切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一个镜头挂 10 秒不动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开头三秒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最好的一帧放最前面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片头动画 + 慢慢铺垫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90% 用硬切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每段都加花式特效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底部居中，每行 12~14 字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字幕压住人脸 / 挡住主体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调色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先统一曝光与色温，再加风格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每段颜色都不一样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音乐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比人声低 15~20dB，用可商用曲库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用热门流行歌当 BGM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导出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按平台选分辨率与码率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竖屏平台发横屏视频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22976"/>
            <a:ext cx="10875234" cy="530352"/>
          </a:xfrm>
          <a:prstGeom prst="roundRect">
            <a:avLst>
              <a:gd name="adj" fmla="val 1379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522976"/>
            <a:ext cx="1091181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唯一铁律：观众不该注意到剪辑，只该被内容带着往下看。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669E9B1-EE72-83CE-374F-4A773A64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图片与版权说明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第四课　Vlog 剪辑入门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091181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本课件中的实拍示例图片来自公开网络，仅用于课堂教学演示；全部剪辑示意图（时间线、节奏对比、安全区、留存曲线）为本课程自制。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95728"/>
          <a:ext cx="10875233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封面 / 工作台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中国创作者剪辑场景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手机剪辑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手机端剪辑操作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调色 / 屏幕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调色与时间线界面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案例拆解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探店场景与剪辑画面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剪辑示意图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时间线、节奏、安全区、留存曲线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本课程自制（可自由使用）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0372" y="5422393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44982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4982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如需商业用途，请替换为自有素材或已授权图片；背景音乐请使用可商用曲库</a:t>
            </a:r>
            <a:r>
              <a:rPr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4000"/>
              </a:lnSpc>
            </a:pP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本课程</a:t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</a:rPr>
              <a:t>已在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GitHub</a:t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</a:rPr>
              <a:t>开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源，如有需要自行前往搜索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vlog-s-</a:t>
            </a:r>
            <a:r>
              <a:rPr lang="en-US" altLang="zh-CN" sz="1200" b="1" dirty="0" err="1">
                <a:solidFill>
                  <a:srgbClr val="FFFFFF"/>
                </a:solidFill>
                <a:latin typeface="微软雅黑"/>
                <a:ea typeface="微软雅黑"/>
              </a:rPr>
              <a:t>studyppt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下载浏览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43FB4D-36BE-AE9C-EAED-B501B62D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21_01_69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3981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第四课 ·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51572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下一课：脚本思路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858768"/>
            <a:ext cx="219456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20E0AF15-D5B2-4732-1746-9BF19725E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1408</Words>
  <Application>Microsoft Office PowerPoint</Application>
  <PresentationFormat>宽屏</PresentationFormat>
  <Paragraphs>420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楚航 陆</cp:lastModifiedBy>
  <cp:revision>3</cp:revision>
  <dcterms:created xsi:type="dcterms:W3CDTF">2013-01-27T09:14:16Z</dcterms:created>
  <dcterms:modified xsi:type="dcterms:W3CDTF">2026-09-27T12:15:29Z</dcterms:modified>
  <cp:category/>
</cp:coreProperties>
</file>