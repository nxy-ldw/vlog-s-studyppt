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00_01_738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0"/>
            <a:ext cx="675129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46085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拍摄教程</a:t>
            </a:r>
            <a:r>
              <a:rPr sz="1200" b="1" dirty="0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en-US" sz="1200" b="1" dirty="0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V</a:t>
            </a:r>
            <a:r>
              <a:rPr lang="en-US" altLang="zh-CN" sz="1200" b="1" dirty="0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log</a:t>
            </a:r>
            <a:r>
              <a:rPr lang="zh-CN" altLang="en-US" sz="1200" b="1" dirty="0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社团</a:t>
            </a:r>
            <a:r>
              <a:rPr sz="1200" b="1" dirty="0" err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系列课程</a:t>
            </a:r>
            <a:endParaRPr sz="1200" b="1" dirty="0">
              <a:solidFill>
                <a:srgbClr val="7FC4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7914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Vlog 拍摄入门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745736" cy="89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9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第一课　构图：
让画面一眼抓住观众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675888"/>
            <a:ext cx="205740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913632"/>
            <a:ext cx="4700016" cy="1004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适用对象：手机 / 微单 / 相机拍摄爱好者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课程时长：约 90 分钟（含随堂实拍）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本课重点：三分法 · 对称 · 引导线 · 框架 · 景深 · 留白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4068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22768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开始学习 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2AD1B2-CF1D-2D11-9CF4-E56DFAD9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本课程学什么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2050688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第一课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" y="2798064"/>
            <a:ext cx="1648352" cy="0"/>
          </a:xfrm>
          <a:prstGeom prst="line">
            <a:avLst/>
          </a:prstGeom>
          <a:ln w="12700">
            <a:solidFill>
              <a:srgbClr val="2E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C3DAE6"/>
                </a:solidFill>
                <a:latin typeface="微软雅黑"/>
                <a:ea typeface="微软雅黑"/>
                <a:cs typeface="微软雅黑"/>
              </a:rPr>
              <a:t>三分法 · 对称 · 引导线
框架 · 景深 · 留白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64504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5672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第二课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5672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运镜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5672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65672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推拉 · 摇 · 移 · 跟随
升降 · 环绕 · 稳定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5672" y="4425696"/>
            <a:ext cx="699516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65672" y="4425696"/>
            <a:ext cx="73609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下一课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0641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71809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第三课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1809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收音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71809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71809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设备选择 · 麦克风
降噪 · 人声处理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71809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1809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6777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7945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第四课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7945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剪辑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77945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77945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粗剪 · 节奏 · 转场
字幕 · 调色 · 导出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7945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7945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913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4081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第五课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4081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脚本思路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84081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84081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选题 · 钩子 · 结构
分镜 · 台词 · 复盘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4081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84081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38928"/>
            <a:ext cx="10875234" cy="859536"/>
          </a:xfrm>
          <a:prstGeom prst="roundRect">
            <a:avLst>
              <a:gd name="adj" fmla="val 8510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138928"/>
            <a:ext cx="64008" cy="85953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五课一条线：构图决定好不好看，运镜决定动不动，收音决定听得清不清，剪辑决定节奏，脚本决定有没有人看下去。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B19E1F95-FD9B-55AD-5C83-90CA1F90C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什么是构图？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构图 = 在一帧画面里，安排主体、陪体、环境与空白的位置关系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6675120" cy="2267712"/>
          </a:xfrm>
          <a:prstGeom prst="roundRect">
            <a:avLst>
              <a:gd name="adj" fmla="val 403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61630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每次按下录制键，你都在做三个决定</a:t>
            </a:r>
          </a:p>
        </p:txBody>
      </p:sp>
      <p:sp>
        <p:nvSpPr>
          <p:cNvPr id="13" name="Oval 12"/>
          <p:cNvSpPr/>
          <p:nvPr/>
        </p:nvSpPr>
        <p:spPr>
          <a:xfrm>
            <a:off x="982980" y="248259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2414016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主体放哪里 —— 放在画面哪个位置，观众就先看哪里</a:t>
            </a:r>
          </a:p>
        </p:txBody>
      </p:sp>
      <p:sp>
        <p:nvSpPr>
          <p:cNvPr id="15" name="Oval 14"/>
          <p:cNvSpPr/>
          <p:nvPr/>
        </p:nvSpPr>
        <p:spPr>
          <a:xfrm>
            <a:off x="982980" y="289001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2821432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镜头从哪里看 —— 高度、角度、远近，决定画面的情绪</a:t>
            </a:r>
          </a:p>
        </p:txBody>
      </p:sp>
      <p:sp>
        <p:nvSpPr>
          <p:cNvPr id="17" name="Oval 16"/>
          <p:cNvSpPr/>
          <p:nvPr/>
        </p:nvSpPr>
        <p:spPr>
          <a:xfrm>
            <a:off x="982980" y="329742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3228848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周围留什么 —— 留多少环境与空白，决定画面是否干净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1828800"/>
            <a:ext cx="3968496" cy="2267712"/>
          </a:xfrm>
          <a:prstGeom prst="roundRect">
            <a:avLst>
              <a:gd name="adj" fmla="val 403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2011680"/>
            <a:ext cx="3511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一句话记住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359152"/>
            <a:ext cx="3511296" cy="12023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构图不是把画面填满，
而是让观众
“看见你想让他看见的”。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97680"/>
            <a:ext cx="1091181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构图对 Vlog 的三个直接作用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00016"/>
            <a:ext cx="3502152" cy="1261872"/>
          </a:xfrm>
          <a:prstGeom prst="roundRect">
            <a:avLst>
              <a:gd name="adj" fmla="val 6521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882896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4828032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抓住注意力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230368"/>
            <a:ext cx="3136392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前 3 秒决定观众
是否继续往下看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2544" y="4700016"/>
            <a:ext cx="3502152" cy="1261872"/>
          </a:xfrm>
          <a:prstGeom prst="roundRect">
            <a:avLst>
              <a:gd name="adj" fmla="val 6521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52544" y="4882896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828032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② 讲清信息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230368"/>
            <a:ext cx="3136392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主体清楚，观众
不用猜你在拍什么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700016"/>
            <a:ext cx="3502152" cy="1261872"/>
          </a:xfrm>
          <a:prstGeom prst="roundRect">
            <a:avLst>
              <a:gd name="adj" fmla="val 6521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4882896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66176" y="4828032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③ 留出后期空间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5230368"/>
            <a:ext cx="3136392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为字幕、贴纸、
转场预留位置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AB24A02-22E8-8514-67DB-E888F13E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 Vlog 更需要构图？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Vlog 是“边走边拍”，环境不可控，构图是你唯一能稳定控制的东西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5349240" cy="2359152"/>
          </a:xfrm>
          <a:prstGeom prst="roundRect">
            <a:avLst>
              <a:gd name="adj" fmla="val 3875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构图不好，会发生什么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8259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41401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观众耐心极短：3 秒内判断值不值得看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81025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74167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画面脏乱 = 信息过载，注意力被分散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13791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06933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手机屏幕小，主体不突出就“糊成一团”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" y="346557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39699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竖屏比例窄，构图容错率比横屏更低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1847088"/>
            <a:ext cx="5111496" cy="2359152"/>
          </a:xfrm>
          <a:prstGeom prst="roundRect">
            <a:avLst>
              <a:gd name="adj" fmla="val 3875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构图对了，会得到什么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48259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41401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主体一眼可辨，观众愿意继续看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281025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274167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画面层级清楚：前景—主体—背景各就各位</a:t>
            </a:r>
          </a:p>
        </p:txBody>
      </p:sp>
      <p:sp>
        <p:nvSpPr>
          <p:cNvPr id="27" name="Oval 26"/>
          <p:cNvSpPr/>
          <p:nvPr/>
        </p:nvSpPr>
        <p:spPr>
          <a:xfrm>
            <a:off x="6725412" y="313791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4576" y="306933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留白足够，字幕与贴纸有地方放</a:t>
            </a:r>
          </a:p>
        </p:txBody>
      </p:sp>
      <p:sp>
        <p:nvSpPr>
          <p:cNvPr id="29" name="Oval 28"/>
          <p:cNvSpPr/>
          <p:nvPr/>
        </p:nvSpPr>
        <p:spPr>
          <a:xfrm>
            <a:off x="6725412" y="346557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94576" y="339699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同一场景换个角度，立刻“高级”起来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425696"/>
            <a:ext cx="10875234" cy="1536192"/>
          </a:xfrm>
          <a:prstGeom prst="roundRect">
            <a:avLst>
              <a:gd name="adj" fmla="val 595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425696"/>
            <a:ext cx="64008" cy="153619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4590288"/>
            <a:ext cx="1027173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关键认知：构图 ≠ 死记规则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974336"/>
            <a:ext cx="1027173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规则是“默认选项”，不是“唯一答案”。先把规则用熟，再根据内容决定要不要打破它。本课讲的 7 种构图法，覆盖 Vlog 绝大多数拍摄场景。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A5DC60F-FA88-C1F7-B8A5-5EA567D3F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总纲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构图的三大原则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所有构图技巧，都是为这三件事服务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3502152" cy="9144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8"/>
            <a:ext cx="1133856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2700" b="1">
                <a:solidFill>
                  <a:srgbClr val="DCE5E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15184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主体明确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54096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观众一眼知道你在拍什么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694176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4692" y="3945636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877056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一个画面只讲一件事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" y="4264152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195572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主体要“最亮、最清楚、最近”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" y="4582668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514088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背景学会做减法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52544" y="1810512"/>
            <a:ext cx="3502152" cy="9144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08576" y="2029968"/>
            <a:ext cx="1133856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2700" b="1">
                <a:solidFill>
                  <a:srgbClr val="DCE5E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2615184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画面平衡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054096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左右上下重量感均衡，不一边倒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08576" y="3694176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58868" y="394563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3877056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避免主体全挤在一侧</a:t>
            </a:r>
          </a:p>
        </p:txBody>
      </p:sp>
      <p:sp>
        <p:nvSpPr>
          <p:cNvPr id="31" name="Oval 30"/>
          <p:cNvSpPr/>
          <p:nvPr/>
        </p:nvSpPr>
        <p:spPr>
          <a:xfrm>
            <a:off x="4658868" y="426415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4195572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用陪体、色彩、空白配平</a:t>
            </a:r>
          </a:p>
        </p:txBody>
      </p:sp>
      <p:sp>
        <p:nvSpPr>
          <p:cNvPr id="33" name="Oval 32"/>
          <p:cNvSpPr/>
          <p:nvPr/>
        </p:nvSpPr>
        <p:spPr>
          <a:xfrm>
            <a:off x="4658868" y="45826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28032" y="4514088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对称也是平衡的一种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1810512"/>
            <a:ext cx="3502152" cy="914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2029968"/>
            <a:ext cx="1133856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2700" b="1">
                <a:solidFill>
                  <a:srgbClr val="DCE5E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615184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视线引导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054096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用线条、明暗、位置牵着视线走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02752" y="3694176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353044" y="394563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22208" y="3877056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引导线指向主体</a:t>
            </a:r>
          </a:p>
        </p:txBody>
      </p:sp>
      <p:sp>
        <p:nvSpPr>
          <p:cNvPr id="43" name="Oval 42"/>
          <p:cNvSpPr/>
          <p:nvPr/>
        </p:nvSpPr>
        <p:spPr>
          <a:xfrm>
            <a:off x="8353044" y="4264152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22208" y="4195572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亮部先被看到</a:t>
            </a:r>
          </a:p>
        </p:txBody>
      </p:sp>
      <p:sp>
        <p:nvSpPr>
          <p:cNvPr id="45" name="Oval 44"/>
          <p:cNvSpPr/>
          <p:nvPr/>
        </p:nvSpPr>
        <p:spPr>
          <a:xfrm>
            <a:off x="8353044" y="4582668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22208" y="4514088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人脸优先于一切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C91A3F4C-166C-504B-9619-EA4D99BF5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2148840"/>
            <a:ext cx="369417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200" b="1">
                <a:solidFill>
                  <a:srgbClr val="2E6F8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10128"/>
            <a:ext cx="88148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基础构图法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86319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A8C2D4"/>
                </a:solidFill>
                <a:latin typeface="微软雅黑"/>
                <a:ea typeface="微软雅黑"/>
                <a:cs typeface="微软雅黑"/>
              </a:rPr>
              <a:t>三分法 · 对称与平衡 · 引导线 · 框架构图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4892040"/>
            <a:ext cx="3474720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7FA0B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FB2B20A-729E-D47C-07A4-63B085E8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三分法：最常用的构图法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两条横线、两条竖线把画面切成 9 格，主体放在交点或三分线上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11" name="Picture 10" descr="s06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2" name="Connector 11"/>
          <p:cNvCxnSpPr/>
          <p:nvPr/>
        </p:nvCxnSpPr>
        <p:spPr>
          <a:xfrm>
            <a:off x="2944368" y="1883664"/>
            <a:ext cx="0" cy="393192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3194304"/>
            <a:ext cx="6858000" cy="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30368" y="1883664"/>
            <a:ext cx="0" cy="393192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" y="4504944"/>
            <a:ext cx="6858000" cy="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875788" y="3125724"/>
            <a:ext cx="137160" cy="137160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875788" y="4436364"/>
            <a:ext cx="137160" cy="137160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61788" y="3125724"/>
            <a:ext cx="137160" cy="137160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1788" y="4436364"/>
            <a:ext cx="137160" cy="137160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925312"/>
            <a:ext cx="68945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橙色圆点 = 4 个“黄金交点”，也是观众视线最先落下的位置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8" y="1883664"/>
            <a:ext cx="3651474" cy="3931920"/>
          </a:xfrm>
          <a:prstGeom prst="roundRect">
            <a:avLst>
              <a:gd name="adj" fmla="val 250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2" y="2066544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为什么好用？</a:t>
            </a:r>
          </a:p>
        </p:txBody>
      </p:sp>
      <p:sp>
        <p:nvSpPr>
          <p:cNvPr id="23" name="Oval 22"/>
          <p:cNvSpPr/>
          <p:nvPr/>
        </p:nvSpPr>
        <p:spPr>
          <a:xfrm>
            <a:off x="8170164" y="25374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246888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偏移产生张力，比居中更有动感</a:t>
            </a:r>
          </a:p>
        </p:txBody>
      </p:sp>
      <p:sp>
        <p:nvSpPr>
          <p:cNvPr id="25" name="Oval 24"/>
          <p:cNvSpPr/>
          <p:nvPr/>
        </p:nvSpPr>
        <p:spPr>
          <a:xfrm>
            <a:off x="8170164" y="28742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280568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自动留出呼吸空间</a:t>
            </a:r>
          </a:p>
        </p:txBody>
      </p:sp>
      <p:sp>
        <p:nvSpPr>
          <p:cNvPr id="27" name="Oval 26"/>
          <p:cNvSpPr/>
          <p:nvPr/>
        </p:nvSpPr>
        <p:spPr>
          <a:xfrm>
            <a:off x="8170164" y="32110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142488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为字幕、贴纸预留位置</a:t>
            </a:r>
          </a:p>
        </p:txBody>
      </p:sp>
      <p:sp>
        <p:nvSpPr>
          <p:cNvPr id="29" name="Oval 28"/>
          <p:cNvSpPr/>
          <p:nvPr/>
        </p:nvSpPr>
        <p:spPr>
          <a:xfrm>
            <a:off x="8170164" y="35478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347929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手机自带九宫格辅助线，打开就能用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4480560"/>
            <a:ext cx="3175986" cy="1133856"/>
          </a:xfrm>
          <a:prstGeom prst="roundRect">
            <a:avLst>
              <a:gd name="adj" fmla="val 6451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4590288"/>
            <a:ext cx="288337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随手就能用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846320"/>
            <a:ext cx="288337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设置 → 相机 → 打开“网格 / 九宫格”，拍前看一眼，别凭感觉。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93D0E0C-1972-104D-E5CD-A146BDDA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7 · 实拍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三分法怎么用：三种典型场景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1. 拍人（口播 / 出镜）</a:t>
            </a:r>
          </a:p>
        </p:txBody>
      </p:sp>
      <p:pic>
        <p:nvPicPr>
          <p:cNvPr id="11" name="Picture 10" descr="s07_09_383x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2" name="Connector 11"/>
          <p:cNvCxnSpPr/>
          <p:nvPr/>
        </p:nvCxnSpPr>
        <p:spPr>
          <a:xfrm>
            <a:off x="1825752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2816352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93136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" y="3602736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人放在一条三分线上，看向
的那侧多留白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75504"/>
            <a:ext cx="3502152" cy="548640"/>
          </a:xfrm>
          <a:prstGeom prst="roundRect">
            <a:avLst>
              <a:gd name="adj" fmla="val 1166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75504"/>
            <a:ext cx="320954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口播时给字幕留下方空间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2. 拍风景</a:t>
            </a:r>
          </a:p>
        </p:txBody>
      </p:sp>
      <p:pic>
        <p:nvPicPr>
          <p:cNvPr id="20" name="Picture 19" descr="s07_18_383x2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21" name="Connector 20"/>
          <p:cNvCxnSpPr/>
          <p:nvPr/>
        </p:nvCxnSpPr>
        <p:spPr>
          <a:xfrm>
            <a:off x="5519928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52544" y="2816352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87312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52544" y="3602736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52544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地平线放在下三分之一，
天空占上三分之二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5175504"/>
            <a:ext cx="3502152" cy="548640"/>
          </a:xfrm>
          <a:prstGeom prst="roundRect">
            <a:avLst>
              <a:gd name="adj" fmla="val 1166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17136" y="5175504"/>
            <a:ext cx="320954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横屏竖屏都适用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3. 拍人与物 + 环境</a:t>
            </a:r>
          </a:p>
        </p:txBody>
      </p:sp>
      <p:pic>
        <p:nvPicPr>
          <p:cNvPr id="29" name="Picture 28" descr="s07_27_383x25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30" name="Connector 29"/>
          <p:cNvCxnSpPr/>
          <p:nvPr/>
        </p:nvCxnSpPr>
        <p:spPr>
          <a:xfrm>
            <a:off x="9214104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46720" y="2816352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381488" y="2029968"/>
            <a:ext cx="0" cy="2359152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46720" y="3602736"/>
            <a:ext cx="3502152" cy="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46720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主体压在一个交点上，
其余留给环境交代位置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175504"/>
            <a:ext cx="3502152" cy="548640"/>
          </a:xfrm>
          <a:prstGeom prst="roundRect">
            <a:avLst>
              <a:gd name="adj" fmla="val 1166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5175504"/>
            <a:ext cx="320954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主体别贴边，留一点余量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88736"/>
            <a:ext cx="1091181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练习：同一场景分别把主体放在“正中”和“三分点”，回放对比，感受差别。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5470B9F-FB4E-81B4-4BD9-9A02BF0F9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7 · 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九宫格定位速查表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主体放在哪一格，画面就在讲什么故事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9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主体位置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视觉感受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适合拍什么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Vlog 场景举例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稳定、正式、有压迫感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对称建筑、正面人物、仪式感镜头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天安门前转身、正对镜头开场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左上 / 右上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轻盈、开阔，天空感强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人物小、环境大的空镜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航拍开场、山顶举手机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左下 / 右下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踏实、有依靠，前景感强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坐姿人物、桌面、静物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咖啡馆探店、桌面特写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上三分线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强调下方与地面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地面纹理、倒影、长影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雨后倒影街拍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下三分线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强调上方与天空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天空、天花板、吊灯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仰拍路灯与天空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074920"/>
            <a:ext cx="10875234" cy="896112"/>
          </a:xfrm>
          <a:prstGeom prst="roundRect">
            <a:avLst>
              <a:gd name="adj" fmla="val 918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074920"/>
            <a:ext cx="64008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193792"/>
            <a:ext cx="1027173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口诀：人看向哪边，就在哪边多留白；人站在哪，脚下别贴边。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14416"/>
            <a:ext cx="102717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口诀只用来建立直觉，熟练之后不必再数格子。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8B364DA-9FD8-21F8-AABA-E6C6A6A3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7 · 排雷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三分法常见错误自查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这些错误新手几乎都犯过，拍完对照检查一遍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7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✕ 错误做法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带来的问题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正确做法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主体死死居中，四周堆满杂物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画面呆板，背景抢戏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主体移到三分点，背景做减法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地平线压在画面正中间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画面被切成两半，没有主次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地平线放在上 / 下三分之一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主体贴边或半个身子出画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显得局促，像没拍全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主体四周留 5%~10% 余量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人物看向左侧，左侧却没有留白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视线撞墙，观众看着憋闷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看向哪边，就在哪边留白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一格画面塞进多个主体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观众不知道该看谁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一个画面只留一个视觉主角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68112"/>
            <a:ext cx="10875234" cy="54864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5468112"/>
            <a:ext cx="1045461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小技巧：按下录制前，把手机举起来先“停一秒”扫一眼画面四角。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2E13165-F647-B4F1-B67B-72F8C9E7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对称与平衡：最稳的画面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把主体放在中轴线上，左右（或上下）镜像呼应，画面立刻“端庄”起来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11" name="Picture 10" descr="s10_09_383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3502152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2" name="Connector 11"/>
          <p:cNvCxnSpPr/>
          <p:nvPr/>
        </p:nvCxnSpPr>
        <p:spPr>
          <a:xfrm>
            <a:off x="2409444" y="1883664"/>
            <a:ext cx="0" cy="393192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3906" y="1883664"/>
            <a:ext cx="0" cy="39319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84982" y="1883664"/>
            <a:ext cx="0" cy="39319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925312"/>
            <a:ext cx="35387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橙色为中轴线，白线为两侧对称区</a:t>
            </a:r>
          </a:p>
        </p:txBody>
      </p:sp>
      <p:pic>
        <p:nvPicPr>
          <p:cNvPr id="16" name="Picture 15" descr="s10_09_383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83664"/>
            <a:ext cx="3502152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7" name="Connector 16"/>
          <p:cNvCxnSpPr/>
          <p:nvPr/>
        </p:nvCxnSpPr>
        <p:spPr>
          <a:xfrm>
            <a:off x="4343400" y="3849624"/>
            <a:ext cx="3502152" cy="0"/>
          </a:xfrm>
          <a:prstGeom prst="line">
            <a:avLst/>
          </a:prstGeom>
          <a:ln w="25400">
            <a:solidFill>
              <a:srgbClr val="E881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43400" y="5925312"/>
            <a:ext cx="35387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水面倒影：天然的上下对称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883664"/>
            <a:ext cx="3505170" cy="3931920"/>
          </a:xfrm>
          <a:prstGeom prst="roundRect">
            <a:avLst>
              <a:gd name="adj" fmla="val 260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066544"/>
            <a:ext cx="310283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怎么拍好对称</a:t>
            </a:r>
          </a:p>
        </p:txBody>
      </p:sp>
      <p:sp>
        <p:nvSpPr>
          <p:cNvPr id="21" name="Oval 20"/>
          <p:cNvSpPr/>
          <p:nvPr/>
        </p:nvSpPr>
        <p:spPr>
          <a:xfrm>
            <a:off x="8298180" y="25374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67344" y="2468880"/>
            <a:ext cx="288337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站到中轴线上，别偏半步</a:t>
            </a:r>
          </a:p>
        </p:txBody>
      </p:sp>
      <p:sp>
        <p:nvSpPr>
          <p:cNvPr id="23" name="Oval 22"/>
          <p:cNvSpPr/>
          <p:nvPr/>
        </p:nvSpPr>
        <p:spPr>
          <a:xfrm>
            <a:off x="8298180" y="28742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2805684"/>
            <a:ext cx="288337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打开九宫格，让中轴压在中间竖线</a:t>
            </a:r>
          </a:p>
        </p:txBody>
      </p:sp>
      <p:sp>
        <p:nvSpPr>
          <p:cNvPr id="25" name="Oval 24"/>
          <p:cNvSpPr/>
          <p:nvPr/>
        </p:nvSpPr>
        <p:spPr>
          <a:xfrm>
            <a:off x="8298180" y="32110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67344" y="3142488"/>
            <a:ext cx="2883378" cy="463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画面要“平”：地平线水平、建筑线条竖直</a:t>
            </a:r>
          </a:p>
        </p:txBody>
      </p:sp>
      <p:sp>
        <p:nvSpPr>
          <p:cNvPr id="27" name="Oval 26"/>
          <p:cNvSpPr/>
          <p:nvPr/>
        </p:nvSpPr>
        <p:spPr>
          <a:xfrm>
            <a:off x="8298180" y="37520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7344" y="3683508"/>
            <a:ext cx="288337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找不到对称，就用“平衡”代替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4553712"/>
            <a:ext cx="3066258" cy="1078992"/>
          </a:xfrm>
          <a:prstGeom prst="roundRect">
            <a:avLst>
              <a:gd name="adj" fmla="val 6779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4663440"/>
            <a:ext cx="2773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注意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919472"/>
            <a:ext cx="2773650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对称太“满”会显得死板，
适合建筑、仪式、开场与结尾。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23DECFD-19B9-5FCC-0E0B-E0F2831E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7 · 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对称与平衡的实战用法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10512"/>
            <a:ext cx="3502152" cy="932688"/>
          </a:xfrm>
          <a:prstGeom prst="roundRect">
            <a:avLst>
              <a:gd name="adj" fmla="val 882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30998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对称：正面硬刚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7121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站中轴线，人物居中，镜头放低
（胸口或腰部高度）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810512"/>
            <a:ext cx="3502152" cy="932688"/>
          </a:xfrm>
          <a:prstGeom prst="roundRect">
            <a:avLst>
              <a:gd name="adj" fmla="val 8823"/>
            </a:avLst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810512"/>
            <a:ext cx="30998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平衡：不对称也稳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87121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左边一个大人像，右边一处亮色
或大块留白，重量相当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10512"/>
            <a:ext cx="3502152" cy="932688"/>
          </a:xfrm>
          <a:prstGeom prst="roundRect">
            <a:avLst>
              <a:gd name="adj" fmla="val 8823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810512"/>
            <a:ext cx="30998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重复：节奏感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一排柱子、一排灯、一排窗户，
等距重复就是节奏</a:t>
            </a:r>
          </a:p>
        </p:txBody>
      </p:sp>
      <p:pic>
        <p:nvPicPr>
          <p:cNvPr id="19" name="Picture 18" descr="s11_17_585x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57600"/>
            <a:ext cx="5349240" cy="22128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58368" y="3657600"/>
            <a:ext cx="5349240" cy="402336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657600"/>
            <a:ext cx="50200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平衡示例：主体偏左，右侧用建筑体量配平</a:t>
            </a:r>
          </a:p>
        </p:txBody>
      </p:sp>
      <p:pic>
        <p:nvPicPr>
          <p:cNvPr id="22" name="Picture 21" descr="s11_20_559x2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657600"/>
            <a:ext cx="5111496" cy="22128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419088" y="3657600"/>
            <a:ext cx="5111496" cy="402336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3657600"/>
            <a:ext cx="478231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对称示例：中轴居中，左右镜像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E617D61-7221-E96A-AB3A-4C62D1C8B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引导线：牵着观众的眼睛走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画面里任何有方向感的线条，都能把观众的视线引向主体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pic>
        <p:nvPicPr>
          <p:cNvPr id="11" name="Picture 10" descr="s12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Oval 11"/>
          <p:cNvSpPr/>
          <p:nvPr/>
        </p:nvSpPr>
        <p:spPr>
          <a:xfrm>
            <a:off x="3817620" y="3907688"/>
            <a:ext cx="237744" cy="237744"/>
          </a:xfrm>
          <a:prstGeom prst="ellipse">
            <a:avLst/>
          </a:prstGeom>
          <a:noFill/>
          <a:ln w="31750">
            <a:solidFill>
              <a:srgbClr val="E8813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2029968" y="4026560"/>
            <a:ext cx="1906524" cy="688086"/>
          </a:xfrm>
          <a:prstGeom prst="line">
            <a:avLst/>
          </a:prstGeom>
          <a:ln w="254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1883664" y="4623206"/>
            <a:ext cx="164592" cy="182880"/>
          </a:xfrm>
          <a:prstGeom prst="triangl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3936492" y="4026560"/>
            <a:ext cx="2208276" cy="688086"/>
          </a:xfrm>
          <a:prstGeom prst="line">
            <a:avLst/>
          </a:prstGeom>
          <a:ln w="254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5998464" y="4623206"/>
            <a:ext cx="164592" cy="182880"/>
          </a:xfrm>
          <a:prstGeom prst="triangl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68945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橙圈为主体，箭头为视线路径：所有线条最终都指向同一个点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8" y="1883664"/>
            <a:ext cx="3651474" cy="3931920"/>
          </a:xfrm>
          <a:prstGeom prst="roundRect">
            <a:avLst>
              <a:gd name="adj" fmla="val 250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2066544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常见的 5 种引导线</a:t>
            </a:r>
          </a:p>
        </p:txBody>
      </p:sp>
      <p:sp>
        <p:nvSpPr>
          <p:cNvPr id="20" name="Oval 19"/>
          <p:cNvSpPr/>
          <p:nvPr/>
        </p:nvSpPr>
        <p:spPr>
          <a:xfrm>
            <a:off x="8170164" y="25374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8" y="246888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道路 / 铁轨：天然透视，最强引导</a:t>
            </a:r>
          </a:p>
        </p:txBody>
      </p:sp>
      <p:sp>
        <p:nvSpPr>
          <p:cNvPr id="22" name="Oval 21"/>
          <p:cNvSpPr/>
          <p:nvPr/>
        </p:nvSpPr>
        <p:spPr>
          <a:xfrm>
            <a:off x="8170164" y="28559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2787396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栏杆 / 走廊：平行线汇聚成焦点</a:t>
            </a:r>
          </a:p>
        </p:txBody>
      </p:sp>
      <p:sp>
        <p:nvSpPr>
          <p:cNvPr id="24" name="Oval 23"/>
          <p:cNvSpPr/>
          <p:nvPr/>
        </p:nvSpPr>
        <p:spPr>
          <a:xfrm>
            <a:off x="8170164" y="317449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310591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河流 / 桥梁：曲线更柔和</a:t>
            </a:r>
          </a:p>
        </p:txBody>
      </p:sp>
      <p:sp>
        <p:nvSpPr>
          <p:cNvPr id="26" name="Oval 25"/>
          <p:cNvSpPr/>
          <p:nvPr/>
        </p:nvSpPr>
        <p:spPr>
          <a:xfrm>
            <a:off x="8170164" y="349300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8" y="3424428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光影与影子：隐形引导线</a:t>
            </a:r>
          </a:p>
        </p:txBody>
      </p:sp>
      <p:sp>
        <p:nvSpPr>
          <p:cNvPr id="28" name="Oval 27"/>
          <p:cNvSpPr/>
          <p:nvPr/>
        </p:nvSpPr>
        <p:spPr>
          <a:xfrm>
            <a:off x="8170164" y="381152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74294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人手指向 / 视线方向：最直接的引导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846320"/>
            <a:ext cx="3175986" cy="804672"/>
          </a:xfrm>
          <a:prstGeom prst="roundRect">
            <a:avLst>
              <a:gd name="adj" fmla="val 9090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4846320"/>
            <a:ext cx="2919954" cy="5858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关键：线条的尽头要放主体，
否则观众会被“带出画外”。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975F87C4-B3A2-D0AC-1DC2-579E3EE0A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3 / 7 · 实拍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引导线这样拍：三个 Vlog 场景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1. 走路跟拍</a:t>
            </a:r>
          </a:p>
        </p:txBody>
      </p:sp>
      <p:pic>
        <p:nvPicPr>
          <p:cNvPr id="11" name="Picture 10" descr="s13_09_383x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贴着栏杆 / 路边走，镜头跟在
身后，道路自然汇聚向前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2. 桥 / 高架</a:t>
            </a:r>
          </a:p>
        </p:txBody>
      </p:sp>
      <p:pic>
        <p:nvPicPr>
          <p:cNvPr id="14" name="Picture 13" descr="s13_12_383x2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352544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站到桥面一侧，让栏杆形成
平行线冲向远方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3. 站台 / 车站</a:t>
            </a:r>
          </a:p>
        </p:txBody>
      </p:sp>
      <p:pic>
        <p:nvPicPr>
          <p:cNvPr id="17" name="Picture 16" descr="s13_15_383x25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29968"/>
            <a:ext cx="3502152" cy="235915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8046720" y="4498848"/>
            <a:ext cx="3538728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顺着站台线拍，人物站在
线条交汇点上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58384"/>
            <a:ext cx="10875234" cy="694944"/>
          </a:xfrm>
          <a:prstGeom prst="roundRect">
            <a:avLst>
              <a:gd name="adj" fmla="val 10526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358384"/>
            <a:ext cx="64008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35838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手机小技巧：镜头贴近栏杆或地面（离地 20~30cm），透视感会明显增强，线条也更有冲击力。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162CF45-49F4-A012-5EE9-016670B39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框架构图：把观众“框”进画面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用环境中的门、窗、树枝、拱形做“外框”，主体放进框里，画面立刻有层次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pic>
        <p:nvPicPr>
          <p:cNvPr id="11" name="Picture 10" descr="s14_09_585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534924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193292" y="1883664"/>
            <a:ext cx="4279392" cy="3931920"/>
          </a:xfrm>
          <a:prstGeom prst="rect">
            <a:avLst/>
          </a:prstGeom>
          <a:noFill/>
          <a:ln w="31750">
            <a:solidFill>
              <a:srgbClr val="E8813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25312"/>
            <a:ext cx="538581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橙框 = 环境中天然的“画框”</a:t>
            </a:r>
          </a:p>
        </p:txBody>
      </p:sp>
      <p:pic>
        <p:nvPicPr>
          <p:cNvPr id="14" name="Picture 13" descr="s14_12_584x2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83664"/>
            <a:ext cx="5343114" cy="1883664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6190488" y="3950208"/>
            <a:ext cx="5343114" cy="1865376"/>
          </a:xfrm>
          <a:prstGeom prst="roundRect">
            <a:avLst>
              <a:gd name="adj" fmla="val 4901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4114800"/>
            <a:ext cx="494077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哪些东西可以当画框</a:t>
            </a:r>
          </a:p>
        </p:txBody>
      </p:sp>
      <p:sp>
        <p:nvSpPr>
          <p:cNvPr id="17" name="Oval 16"/>
          <p:cNvSpPr/>
          <p:nvPr/>
        </p:nvSpPr>
        <p:spPr>
          <a:xfrm>
            <a:off x="6460236" y="456742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498848"/>
            <a:ext cx="472132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门洞、窗、花窗、月亮门</a:t>
            </a:r>
          </a:p>
        </p:txBody>
      </p:sp>
      <p:sp>
        <p:nvSpPr>
          <p:cNvPr id="19" name="Oval 18"/>
          <p:cNvSpPr/>
          <p:nvPr/>
        </p:nvSpPr>
        <p:spPr>
          <a:xfrm>
            <a:off x="6460236" y="486765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799076"/>
            <a:ext cx="472132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树枝、树叶、草丛缝隙</a:t>
            </a:r>
          </a:p>
        </p:txBody>
      </p:sp>
      <p:sp>
        <p:nvSpPr>
          <p:cNvPr id="21" name="Oval 20"/>
          <p:cNvSpPr/>
          <p:nvPr/>
        </p:nvSpPr>
        <p:spPr>
          <a:xfrm>
            <a:off x="6460236" y="5167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5099304"/>
            <a:ext cx="472132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拱门、隧道、栏杆之间</a:t>
            </a:r>
          </a:p>
        </p:txBody>
      </p:sp>
      <p:sp>
        <p:nvSpPr>
          <p:cNvPr id="23" name="Oval 22"/>
          <p:cNvSpPr/>
          <p:nvPr/>
        </p:nvSpPr>
        <p:spPr>
          <a:xfrm>
            <a:off x="6460236" y="546811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5399532"/>
            <a:ext cx="472132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人的手臂、肩背（前景遮挡）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21F2AB1-6627-0ABD-ACED-B35A19B56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7 · 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框架构图的两个进阶技巧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10512"/>
            <a:ext cx="5349240" cy="3931920"/>
          </a:xfrm>
          <a:prstGeom prst="roundRect">
            <a:avLst>
              <a:gd name="adj" fmla="val 2325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349240" cy="82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048256"/>
            <a:ext cx="483717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技巧 A：借用前景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4837176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把镜头贴近树叶、栏杆、杯口等前景物体，让前景略虚、主体清晰。前景会形成一层柔和的“框”，同时把画面的纵深拉开。</a:t>
            </a:r>
          </a:p>
        </p:txBody>
      </p:sp>
      <p:pic>
        <p:nvPicPr>
          <p:cNvPr id="14" name="Picture 13" descr="s15_12_525x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310128"/>
            <a:ext cx="4800600" cy="22128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932688" y="3310128"/>
            <a:ext cx="4800600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310128"/>
            <a:ext cx="447141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前景竹排 → 中景渔民 → 远山云雾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1810512"/>
            <a:ext cx="5111496" cy="3931920"/>
          </a:xfrm>
          <a:prstGeom prst="roundRect">
            <a:avLst>
              <a:gd name="adj" fmla="val 2325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19088" y="1810512"/>
            <a:ext cx="5111496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2048256"/>
            <a:ext cx="4599432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B：框不留满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542032"/>
            <a:ext cx="4599432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画框不必四边封闭。左右两条竖边、或上下一条横边，就足够形成“框”的感觉，画面反而更通透。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3408" y="3401568"/>
            <a:ext cx="4562856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14722" y="3401568"/>
            <a:ext cx="128016" cy="2121408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06934" y="3401568"/>
            <a:ext cx="128016" cy="2121408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3408" y="4292559"/>
            <a:ext cx="459943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两条竖边就构成框</a:t>
            </a:r>
          </a:p>
        </p:txBody>
      </p:sp>
      <p:sp>
        <p:nvSpPr>
          <p:cNvPr id="25" name="Oval 24"/>
          <p:cNvSpPr/>
          <p:nvPr/>
        </p:nvSpPr>
        <p:spPr>
          <a:xfrm>
            <a:off x="8828532" y="4315968"/>
            <a:ext cx="292608" cy="29260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3408" y="5614416"/>
            <a:ext cx="459943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主体居中偏下，画面通透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C757EBA-1967-3067-435D-D1CA6F17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景深与层次：让画面“立体”起来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好的画面至少有三层：前景、中景（主体）、背景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pic>
        <p:nvPicPr>
          <p:cNvPr id="11" name="Picture 10" descr="s16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1069848" y="2011680"/>
            <a:ext cx="676656" cy="310896"/>
          </a:xfrm>
          <a:prstGeom prst="roundRect">
            <a:avLst>
              <a:gd name="adj" fmla="val 14705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011680"/>
            <a:ext cx="71323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2011680"/>
            <a:ext cx="1591056" cy="310896"/>
          </a:xfrm>
          <a:prstGeom prst="roundRect">
            <a:avLst>
              <a:gd name="adj" fmla="val 14705"/>
            </a:avLst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15768" y="2011680"/>
            <a:ext cx="162763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中景 · 主体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0328" y="2011680"/>
            <a:ext cx="676656" cy="310896"/>
          </a:xfrm>
          <a:prstGeom prst="roundRect">
            <a:avLst>
              <a:gd name="adj" fmla="val 14705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2011680"/>
            <a:ext cx="71323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69998" y="1883664"/>
            <a:ext cx="0" cy="393192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01718" y="1883664"/>
            <a:ext cx="0" cy="393192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5925312"/>
            <a:ext cx="68945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三条虚线从左到右：前景 / 中景 / 背景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8" y="1883664"/>
            <a:ext cx="3651474" cy="1847088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2" y="2048256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三层怎么分工</a:t>
            </a:r>
          </a:p>
        </p:txBody>
      </p:sp>
      <p:sp>
        <p:nvSpPr>
          <p:cNvPr id="23" name="Oval 22"/>
          <p:cNvSpPr/>
          <p:nvPr/>
        </p:nvSpPr>
        <p:spPr>
          <a:xfrm>
            <a:off x="8170164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243230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前景：交代环境、增强纵深</a:t>
            </a:r>
          </a:p>
        </p:txBody>
      </p:sp>
      <p:sp>
        <p:nvSpPr>
          <p:cNvPr id="25" name="Oval 24"/>
          <p:cNvSpPr/>
          <p:nvPr/>
        </p:nvSpPr>
        <p:spPr>
          <a:xfrm>
            <a:off x="8170164" y="280111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273253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中景：放主体，必须最清楚</a:t>
            </a:r>
          </a:p>
        </p:txBody>
      </p:sp>
      <p:sp>
        <p:nvSpPr>
          <p:cNvPr id="27" name="Oval 26"/>
          <p:cNvSpPr/>
          <p:nvPr/>
        </p:nvSpPr>
        <p:spPr>
          <a:xfrm>
            <a:off x="8170164" y="310134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03276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背景：说明“在哪里”，别抢戏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913632"/>
            <a:ext cx="3651474" cy="1901952"/>
          </a:xfrm>
          <a:prstGeom prst="roundRect">
            <a:avLst>
              <a:gd name="adj" fmla="val 4807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9872" y="4096512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手机也能拍出虚化</a:t>
            </a:r>
          </a:p>
        </p:txBody>
      </p:sp>
      <p:sp>
        <p:nvSpPr>
          <p:cNvPr id="31" name="Oval 30"/>
          <p:cNvSpPr/>
          <p:nvPr/>
        </p:nvSpPr>
        <p:spPr>
          <a:xfrm>
            <a:off x="8170164" y="456742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4498848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打开“人像模式 / 大光圈”</a:t>
            </a:r>
          </a:p>
        </p:txBody>
      </p:sp>
      <p:sp>
        <p:nvSpPr>
          <p:cNvPr id="33" name="Oval 32"/>
          <p:cNvSpPr/>
          <p:nvPr/>
        </p:nvSpPr>
        <p:spPr>
          <a:xfrm>
            <a:off x="8170164" y="486765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9328" y="4799076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镜头贴近前景物体</a:t>
            </a:r>
          </a:p>
        </p:txBody>
      </p:sp>
      <p:sp>
        <p:nvSpPr>
          <p:cNvPr id="35" name="Oval 34"/>
          <p:cNvSpPr/>
          <p:nvPr/>
        </p:nvSpPr>
        <p:spPr>
          <a:xfrm>
            <a:off x="8170164" y="5167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8" y="509930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主体离背景越远，虚化越强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A0C226B-0207-D5DB-6B00-7C154C1E9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地平线放在哪：决定画面的情绪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同一条地平线，放在不同高度，画面讲的完全是两件事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地平线在 1/3 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35387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天空占 2/3</a:t>
            </a:r>
          </a:p>
        </p:txBody>
      </p:sp>
      <p:pic>
        <p:nvPicPr>
          <p:cNvPr id="13" name="Picture 12" descr="s17_11_383x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67712"/>
            <a:ext cx="3502152" cy="21396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4" name="Connector 13"/>
          <p:cNvCxnSpPr/>
          <p:nvPr/>
        </p:nvCxnSpPr>
        <p:spPr>
          <a:xfrm>
            <a:off x="658368" y="2980944"/>
            <a:ext cx="3502152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451713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强调天空、云彩、光线
适合开阔、抒情、开场空镜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地平线在中间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938528"/>
            <a:ext cx="35387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天地各一半</a:t>
            </a:r>
          </a:p>
        </p:txBody>
      </p:sp>
      <p:pic>
        <p:nvPicPr>
          <p:cNvPr id="18" name="Picture 17" descr="s17_16_383x2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267712"/>
            <a:ext cx="3502152" cy="21396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19" name="Connector 18"/>
          <p:cNvCxnSpPr/>
          <p:nvPr/>
        </p:nvCxnSpPr>
        <p:spPr>
          <a:xfrm>
            <a:off x="4352544" y="3337560"/>
            <a:ext cx="3502152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52544" y="451713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冷静、克制、有仪式感
适合水面倒影，但容易呆板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609344"/>
            <a:ext cx="35387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地平线在 2/3 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938528"/>
            <a:ext cx="35387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地面占 2/3</a:t>
            </a:r>
          </a:p>
        </p:txBody>
      </p:sp>
      <p:pic>
        <p:nvPicPr>
          <p:cNvPr id="23" name="Picture 22" descr="s17_21_383x2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67712"/>
            <a:ext cx="3502152" cy="21396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cxnSp>
        <p:nvCxnSpPr>
          <p:cNvPr id="24" name="Connector 23"/>
          <p:cNvCxnSpPr/>
          <p:nvPr/>
        </p:nvCxnSpPr>
        <p:spPr>
          <a:xfrm>
            <a:off x="8046720" y="3694176"/>
            <a:ext cx="3502152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46720" y="4517136"/>
            <a:ext cx="3538728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强调地面、道路、纹理
适合行走、探店、纪实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94960"/>
            <a:ext cx="10875234" cy="658368"/>
          </a:xfrm>
          <a:prstGeom prst="roundRect">
            <a:avLst>
              <a:gd name="adj" fmla="val 11111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394960"/>
            <a:ext cx="64008" cy="65836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394960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铁律：地平线一定要水平。歪 2 度，观众就会觉得“哪里不对”。后期也要记得拉直。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85D2F75-6A2C-75FE-5713-61512657A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拍摄角度速查表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同一个主体，换个高度和角度，画面的“身份”就变了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视角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机位高度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画面感觉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最适合的 Vlog 场景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平视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与主体眼睛齐平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平等、亲切、真实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口播、访谈、面对面聊天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俯拍（高角度）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高于主体向下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渺小、可爱、交代全局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拍美食、桌面、市集、人群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仰拍（低角度）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低于主体向上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高大、有气势、有压迫感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拍高楼、雕塑、英雄感人物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鸟瞰 / 航拍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高空垂直向下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宏大、陌生化、开场利器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开场空镜、城市全貌、转场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过肩 / 身后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主体后方略偏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代入感强，像观众自己在看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walking vlog、跟随行走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1" descr="s18_10_382x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0"/>
            <a:ext cx="3497062" cy="120700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658368" y="4754880"/>
            <a:ext cx="50292" cy="120700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5655183"/>
            <a:ext cx="3259318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仰拍：东方明珠塔</a:t>
            </a:r>
          </a:p>
        </p:txBody>
      </p:sp>
      <p:pic>
        <p:nvPicPr>
          <p:cNvPr id="15" name="Picture 14" descr="s18_13_382x1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454" y="4754880"/>
            <a:ext cx="3497062" cy="120700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4347454" y="4754880"/>
            <a:ext cx="50292" cy="1207008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3758" y="5655183"/>
            <a:ext cx="3259318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俯拍：城市夜景</a:t>
            </a:r>
          </a:p>
        </p:txBody>
      </p:sp>
      <p:pic>
        <p:nvPicPr>
          <p:cNvPr id="18" name="Picture 17" descr="s18_16_382x1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540" y="4754880"/>
            <a:ext cx="3497062" cy="120700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8036540" y="4754880"/>
            <a:ext cx="50292" cy="1207008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2844" y="5655183"/>
            <a:ext cx="3259318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平视：自拍机位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F6D82ED-B97B-A2A6-6105-02B80D6AD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加分项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留白：给画面“喘气”的地方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留白不是浪费，是让主体更突出、让后期有地方放字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760720" cy="393192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956816"/>
            <a:ext cx="25054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太满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956816"/>
            <a:ext cx="25054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有留白</a:t>
            </a:r>
          </a:p>
        </p:txBody>
      </p:sp>
      <p:pic>
        <p:nvPicPr>
          <p:cNvPr id="14" name="Picture 13" descr="s19_12_278x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95728"/>
            <a:ext cx="2542032" cy="192024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96112" y="4407408"/>
            <a:ext cx="257860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主体被杂物包围，找不到重点</a:t>
            </a:r>
          </a:p>
        </p:txBody>
      </p:sp>
      <p:pic>
        <p:nvPicPr>
          <p:cNvPr id="16" name="Picture 15" descr="s19_14_278x2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395728"/>
            <a:ext cx="2542032" cy="192024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3675888" y="4407408"/>
            <a:ext cx="257860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主体清晰，空白成为“呼吸区”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681728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" y="4809744"/>
            <a:ext cx="4992624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减法三问：这个元素对讲故事有用吗？
会抢主体吗？移开镜头会更好看吗？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1810512"/>
            <a:ext cx="4748754" cy="3931920"/>
          </a:xfrm>
          <a:prstGeom prst="roundRect">
            <a:avLst>
              <a:gd name="adj" fmla="val 2325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1993392"/>
            <a:ext cx="4236690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留白在 Vlog 里的 4 个用处</a:t>
            </a:r>
          </a:p>
        </p:txBody>
      </p:sp>
      <p:sp>
        <p:nvSpPr>
          <p:cNvPr id="22" name="Oval 21"/>
          <p:cNvSpPr/>
          <p:nvPr/>
        </p:nvSpPr>
        <p:spPr>
          <a:xfrm>
            <a:off x="7109460" y="261061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78624" y="2542032"/>
            <a:ext cx="401723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放字幕：底部留 1/5 空白，字幕不压画面</a:t>
            </a:r>
          </a:p>
        </p:txBody>
      </p:sp>
      <p:sp>
        <p:nvSpPr>
          <p:cNvPr id="24" name="Oval 23"/>
          <p:cNvSpPr/>
          <p:nvPr/>
        </p:nvSpPr>
        <p:spPr>
          <a:xfrm>
            <a:off x="7109460" y="29565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78624" y="2887980"/>
            <a:ext cx="401723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放贴纸 / 进度条：右上角或左下角留净区</a:t>
            </a:r>
          </a:p>
        </p:txBody>
      </p:sp>
      <p:sp>
        <p:nvSpPr>
          <p:cNvPr id="26" name="Oval 25"/>
          <p:cNvSpPr/>
          <p:nvPr/>
        </p:nvSpPr>
        <p:spPr>
          <a:xfrm>
            <a:off x="7109460" y="330250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3233928"/>
            <a:ext cx="401723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表达情绪：大留白 = 安静、孤独、辽阔</a:t>
            </a:r>
          </a:p>
        </p:txBody>
      </p:sp>
      <p:sp>
        <p:nvSpPr>
          <p:cNvPr id="28" name="Oval 27"/>
          <p:cNvSpPr/>
          <p:nvPr/>
        </p:nvSpPr>
        <p:spPr>
          <a:xfrm>
            <a:off x="7109460" y="364845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78624" y="3579876"/>
            <a:ext cx="401723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引导视线：空白越干净，主体越突出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4937760"/>
            <a:ext cx="4200114" cy="621792"/>
          </a:xfrm>
          <a:prstGeom prst="roundRect">
            <a:avLst>
              <a:gd name="adj" fmla="val 10294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4937760"/>
            <a:ext cx="423669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竖屏 Vlog：上方留白放标题，下方留白放字幕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903C505-57CA-E700-9666-CEE942B46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实战细节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对话与人物的构图细节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口播、访谈、对话镜头最容易忽略的四个细节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989320" cy="3931920"/>
          </a:xfrm>
          <a:prstGeom prst="roundRect">
            <a:avLst>
              <a:gd name="adj" fmla="val 2325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2416" y="2212848"/>
            <a:ext cx="521208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74136" y="2816352"/>
            <a:ext cx="548640" cy="548640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64408" y="3346704"/>
            <a:ext cx="768096" cy="1005840"/>
          </a:xfrm>
          <a:prstGeom prst="roundRect">
            <a:avLst>
              <a:gd name="adj" fmla="val 11904"/>
            </a:avLst>
          </a:prstGeom>
          <a:solidFill>
            <a:srgbClr val="C9D6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042416" y="2816352"/>
            <a:ext cx="5212080" cy="0"/>
          </a:xfrm>
          <a:prstGeom prst="line">
            <a:avLst/>
          </a:prstGeom>
          <a:ln w="19050">
            <a:solidFill>
              <a:srgbClr val="E881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70432" y="2267712"/>
            <a:ext cx="27797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头顶留白 ≈ 一个拳头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2416" y="5230368"/>
            <a:ext cx="5212080" cy="0"/>
          </a:xfrm>
          <a:prstGeom prst="line">
            <a:avLst/>
          </a:prstGeom>
          <a:ln w="19050">
            <a:solidFill>
              <a:srgbClr val="2E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70432" y="4919472"/>
            <a:ext cx="36941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不要在脖子 / 腰 / 膝盖处裁切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79776" y="2212848"/>
            <a:ext cx="0" cy="30175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17136" y="2212848"/>
            <a:ext cx="0" cy="30175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70432" y="4023360"/>
            <a:ext cx="314553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眼睛落在上三分线附近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4304" y="1810512"/>
            <a:ext cx="452929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04304" y="1810512"/>
            <a:ext cx="50292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05472" y="1938528"/>
            <a:ext cx="41635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视线留白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286000"/>
            <a:ext cx="41635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人物看向画面右侧时，右侧空间要多于左侧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4304" y="2807208"/>
            <a:ext cx="452929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04304" y="2807208"/>
            <a:ext cx="50292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2935224"/>
            <a:ext cx="41635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别切关节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3282696"/>
            <a:ext cx="41635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构图边界避开脖子、腰、膝盖、手腕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304" y="3803904"/>
            <a:ext cx="452929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04304" y="3803904"/>
            <a:ext cx="50292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5472" y="3931920"/>
            <a:ext cx="41635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过肩镜头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4279392"/>
            <a:ext cx="41635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访谈用两人过肩机位，观众有“在场感”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04304" y="4800600"/>
            <a:ext cx="452929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04304" y="4800600"/>
            <a:ext cx="50292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4928616"/>
            <a:ext cx="41635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机位齐眼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5276088"/>
            <a:ext cx="41635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镜头与眼睛同高，观众才觉得在对话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05EF0F24-9AB4-DFC8-7B29-255A224F4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平台适配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竖屏与横屏：构图逻辑不一样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先想清楚发在哪里，再决定怎么取景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83664"/>
            <a:ext cx="2103120" cy="39319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212848"/>
            <a:ext cx="1810512" cy="3218688"/>
          </a:xfrm>
          <a:prstGeom prst="roundRect">
            <a:avLst>
              <a:gd name="adj" fmla="val 2525"/>
            </a:avLst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" y="2212848"/>
            <a:ext cx="1810512" cy="514990"/>
          </a:xfrm>
          <a:prstGeom prst="rect">
            <a:avLst/>
          </a:prstGeom>
          <a:solidFill>
            <a:srgbClr val="1645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212848"/>
            <a:ext cx="184708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标题区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530303"/>
            <a:ext cx="1810512" cy="514990"/>
          </a:xfrm>
          <a:prstGeom prst="rect">
            <a:avLst/>
          </a:prstGeom>
          <a:solidFill>
            <a:srgbClr val="1645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530303"/>
            <a:ext cx="184708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字幕区</a:t>
            </a:r>
          </a:p>
        </p:txBody>
      </p:sp>
      <p:sp>
        <p:nvSpPr>
          <p:cNvPr id="17" name="Oval 16"/>
          <p:cNvSpPr/>
          <p:nvPr/>
        </p:nvSpPr>
        <p:spPr>
          <a:xfrm>
            <a:off x="1563624" y="3307202"/>
            <a:ext cx="292608" cy="29260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522976"/>
            <a:ext cx="21396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9 : 16 竖屏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35808" y="1883664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10128" y="2670048"/>
            <a:ext cx="3200400" cy="1800225"/>
          </a:xfrm>
          <a:prstGeom prst="roundRect">
            <a:avLst>
              <a:gd name="adj" fmla="val 2539"/>
            </a:avLst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123944" y="3480149"/>
            <a:ext cx="292608" cy="29260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10128" y="4195953"/>
            <a:ext cx="3200400" cy="274320"/>
          </a:xfrm>
          <a:prstGeom prst="rect">
            <a:avLst/>
          </a:prstGeom>
          <a:solidFill>
            <a:srgbClr val="1645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0128" y="4195953"/>
            <a:ext cx="323697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字幕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5522976"/>
            <a:ext cx="3785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16 : 9 横屏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1901952"/>
            <a:ext cx="451101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同一个场景，两种取景思路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2432304"/>
            <a:ext cx="4474434" cy="1060704"/>
          </a:xfrm>
          <a:prstGeom prst="roundRect">
            <a:avLst>
              <a:gd name="adj" fmla="val 689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9168" y="2432304"/>
            <a:ext cx="54864" cy="106070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0336" y="2542032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竖屏 9:16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871216"/>
            <a:ext cx="4108674" cy="881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主体占画面更大，人物居中偏上；
上方留标题、下方留字幕；
左右空间少，背景要更干净。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3621024"/>
            <a:ext cx="4474434" cy="1060704"/>
          </a:xfrm>
          <a:prstGeom prst="roundRect">
            <a:avLst>
              <a:gd name="adj" fmla="val 689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9168" y="3621024"/>
            <a:ext cx="54864" cy="106070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0336" y="3730752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横屏 16:9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4059936"/>
            <a:ext cx="4108674" cy="881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适合表现环境与空间关系；
主体放三分点，两侧要有内容；
适合风景、多人、运动镜头。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9168" y="4809744"/>
            <a:ext cx="4474434" cy="1060704"/>
          </a:xfrm>
          <a:prstGeom prst="roundRect">
            <a:avLst>
              <a:gd name="adj" fmla="val 689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9168" y="4809744"/>
            <a:ext cx="54864" cy="106070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60336" y="4919472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通用建议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5248656"/>
            <a:ext cx="4108674" cy="606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9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竖屏：人放中间竖线偏上，脚下方留 1/5 字幕区；
横屏：人放左右三分线，视线方向留白。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BA473A8-59C5-E66C-4267-B7F03E25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实拍流程：从选景到成片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构图不是单个动作，而是一套可以重复的流程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700784" cy="6858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想清楚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这条视频想让观众
记住什么？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370125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96312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96312" y="1883664"/>
            <a:ext cx="1700784" cy="6858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0904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② 选机位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4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站哪里、用什么高度、
什么角度</a:t>
            </a:r>
          </a:p>
        </p:txBody>
      </p:sp>
      <p:sp>
        <p:nvSpPr>
          <p:cNvPr id="20" name="Isosceles Triangle 19"/>
          <p:cNvSpPr/>
          <p:nvPr/>
        </p:nvSpPr>
        <p:spPr>
          <a:xfrm>
            <a:off x="4208069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34256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883664"/>
            <a:ext cx="1700784" cy="6858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98848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③ 找线条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有没有引导线、框架
可以借用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6046013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1883664"/>
            <a:ext cx="1700784" cy="6858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④ 定主体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主体压在三分点或
中轴线上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7883957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10144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10144" y="1883664"/>
            <a:ext cx="1700784" cy="6858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4736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⑤ 做减法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移开抢戏杂物，
留出呼吸空间</a:t>
            </a:r>
          </a:p>
        </p:txBody>
      </p:sp>
      <p:sp>
        <p:nvSpPr>
          <p:cNvPr id="35" name="Isosceles Triangle 34"/>
          <p:cNvSpPr/>
          <p:nvPr/>
        </p:nvSpPr>
        <p:spPr>
          <a:xfrm>
            <a:off x="9721901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48088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48088" y="1883664"/>
            <a:ext cx="1700784" cy="6858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12680" y="2066544"/>
            <a:ext cx="14081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⑥ 拍三条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523744"/>
            <a:ext cx="1408176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同一构图拍 3 条：
稳、近、换角度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535424"/>
            <a:ext cx="10875234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535424"/>
            <a:ext cx="1039974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每一步都不超过 10 秒——熟练之后，这整套判断会在举起手机前完成。</a:t>
            </a:r>
          </a:p>
        </p:txBody>
      </p:sp>
      <p:pic>
        <p:nvPicPr>
          <p:cNvPr id="42" name="Picture 41" descr="s22_40_283x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285232"/>
            <a:ext cx="2595364" cy="7680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3" name="Rectangle 42"/>
          <p:cNvSpPr/>
          <p:nvPr/>
        </p:nvSpPr>
        <p:spPr>
          <a:xfrm>
            <a:off x="658368" y="5285232"/>
            <a:ext cx="822960" cy="256032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285232"/>
            <a:ext cx="78638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定主体</a:t>
            </a:r>
          </a:p>
        </p:txBody>
      </p:sp>
      <p:pic>
        <p:nvPicPr>
          <p:cNvPr id="45" name="Picture 44" descr="s22_43_283x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24" y="5285232"/>
            <a:ext cx="2595364" cy="7680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6" name="Rectangle 45"/>
          <p:cNvSpPr/>
          <p:nvPr/>
        </p:nvSpPr>
        <p:spPr>
          <a:xfrm>
            <a:off x="3418324" y="5285232"/>
            <a:ext cx="822960" cy="256032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91476" y="5285232"/>
            <a:ext cx="78638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找线条</a:t>
            </a:r>
          </a:p>
        </p:txBody>
      </p:sp>
      <p:pic>
        <p:nvPicPr>
          <p:cNvPr id="48" name="Picture 47" descr="s22_46_283x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281" y="5285232"/>
            <a:ext cx="2595364" cy="7680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9" name="Rectangle 48"/>
          <p:cNvSpPr/>
          <p:nvPr/>
        </p:nvSpPr>
        <p:spPr>
          <a:xfrm>
            <a:off x="6178281" y="5285232"/>
            <a:ext cx="822960" cy="256032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51433" y="5285232"/>
            <a:ext cx="78638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借框架</a:t>
            </a:r>
          </a:p>
        </p:txBody>
      </p:sp>
      <p:pic>
        <p:nvPicPr>
          <p:cNvPr id="51" name="Picture 50" descr="s22_49_283x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37" y="5285232"/>
            <a:ext cx="2595364" cy="76809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52" name="Rectangle 51"/>
          <p:cNvSpPr/>
          <p:nvPr/>
        </p:nvSpPr>
        <p:spPr>
          <a:xfrm>
            <a:off x="8938237" y="5285232"/>
            <a:ext cx="822960" cy="256032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11389" y="5285232"/>
            <a:ext cx="78638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做减法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54DBF948-3E19-7B0B-9469-9127C3523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案例拆解：45 秒探店 Vlog 的构图设计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用同一个场景，把 7 种构图法串成一条完整的片子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5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镜头内容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使用的构图法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0–3s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门头正面，人从门外走入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对称 + 引导线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开场建立地点，自带仪式感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3–10s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跟拍进门，穿过门洞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框架构图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用门框把观众“带进”空间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10–20s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落座，人放在左三分线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三分法 + 视线留白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留出右侧桌面与字幕位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20–30s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俯拍食物特写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俯拍 + 留白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交代细节，方便加价格字幕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30–38s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抬头看窗外，逆光轮廓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低角度 + 层次（前景杯）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制造情绪高点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38–45s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起身离店，回头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中轴对称 + 收尾留白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首尾呼应，方便加结束语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230368"/>
            <a:ext cx="10875234" cy="749808"/>
          </a:xfrm>
          <a:prstGeom prst="roundRect">
            <a:avLst>
              <a:gd name="adj" fmla="val 9756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230368"/>
            <a:ext cx="64008" cy="74980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23036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规律：一条 Vlog 不需要每个镜头都惊艳，但每个镜头都要“有理由”。构图服务于内容，而不是反过来。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E9C4AB-184E-861B-6E66-F0DF27582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本课知识点总结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7 种构图法 + 1 条铁律，够你拍完这一个月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9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构图法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一句话要点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最容易记错的地方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三分法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主体放在三分线或交点上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把地平线放在正中间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对称 / 平衡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站中轴线，左右重量相当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只追求对称，画面死板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引导线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线条尽头要放主体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线条把视线带出画外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框架构图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用门、窗、树枝框住主体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框太满，画面压抑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景深层次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前景—中景—背景三层分明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前景太乱，反而抢戏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地平线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放上 / 下三分之一，务必水平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地平线歪斜，后期要拉直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给字幕和呼吸留位置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把留白当成“没拍满”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512064"/>
          </a:xfrm>
          <a:prstGeom prst="roundRect">
            <a:avLst>
              <a:gd name="adj" fmla="val 14285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504688"/>
            <a:ext cx="1091181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唯一铁律：主体清楚，画面干净。其余都可以灵活变通。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92FE0B1-2E3D-D693-6505-4695E8E67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图片与版权说明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第一课　Vlog 构图入门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091181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本课件中的实拍示例图片来自公开网络，仅用于课堂教学演示；讲解示意图（九宫格、中轴线、引导线、层次标注）为本课程自制。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95728"/>
          <a:ext cx="10875233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封面 / 城市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上海陆家嘴夜景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三分法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人像与风景示例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故宫角楼、天坛、午门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引导线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大桥、铁轨、公路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框架 / 层次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园林花窗、门洞、山景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示意图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九宫格、中轴线、引导线标注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本课程自制（可自由使用）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13248"/>
            <a:ext cx="10875234" cy="566928"/>
          </a:xfrm>
          <a:prstGeom prst="roundRect">
            <a:avLst>
              <a:gd name="adj" fmla="val 1290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5413248"/>
            <a:ext cx="1036317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如需商业用途，请替换为自有素材或已授权图片</a:t>
            </a:r>
            <a:r>
              <a:rPr sz="1200" b="1" dirty="0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200" b="1" dirty="0">
              <a:solidFill>
                <a:srgbClr val="0E3A4E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4000"/>
              </a:lnSpc>
            </a:pP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本课程已在</a:t>
            </a:r>
            <a:r>
              <a:rPr lang="en-US" altLang="zh-CN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</a:t>
            </a: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开源，如有需要自行前往搜索</a:t>
            </a:r>
            <a:r>
              <a:rPr lang="en-US" altLang="zh-CN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vlog-s-</a:t>
            </a:r>
            <a:r>
              <a:rPr lang="en-US" altLang="zh-CN"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studyppt</a:t>
            </a: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下载浏览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endParaRPr sz="1200" b="1" dirty="0">
              <a:solidFill>
                <a:srgbClr val="0E3A4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34B59DC-75EB-0EE2-6963-D7327CD4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27_01_69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3981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第一课 ·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51572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下一课：运镜与稳定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858768"/>
            <a:ext cx="219456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65F6BE43-768E-B03F-0E1A-5F3386E5C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1793</Words>
  <Application>Microsoft Office PowerPoint</Application>
  <PresentationFormat>宽屏</PresentationFormat>
  <Paragraphs>477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楚航 陆</cp:lastModifiedBy>
  <cp:revision>3</cp:revision>
  <dcterms:created xsi:type="dcterms:W3CDTF">2013-01-27T09:14:16Z</dcterms:created>
  <dcterms:modified xsi:type="dcterms:W3CDTF">2026-09-27T12:13:31Z</dcterms:modified>
  <cp:category/>
</cp:coreProperties>
</file>