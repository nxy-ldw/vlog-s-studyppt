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00_01_738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0"/>
            <a:ext cx="675129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46085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拍摄教程 · 系列课程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7914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Vlog 拍摄入门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745736" cy="89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9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第五课　脚本思路：
先想清楚，再按快门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675888"/>
            <a:ext cx="205740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913632"/>
            <a:ext cx="4700016" cy="1004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适用对象：想稳定产出内容的 Vlog 创作者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课程时长：约 90 分钟（含随堂练习）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本课重点：选题 · 钩子 · 结构 · 分镜 · 台词 · 复盘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4068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22768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开始学习 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7C1968-CE59-3877-68CA-9DB6D1F6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本课程学什么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第一课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构图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三分法 · 对称 · 引导线
框架 · 景深 · 留白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4504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5672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第二课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5672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运镜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5672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5672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推拉 · 摇 · 移 · 跟随
升降 · 环绕 · 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5672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5672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0641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1809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第三课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1809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收音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71809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71809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设备选择 · 麦克风
降噪 · 人声处理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1809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71809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6777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7945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第四课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7945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剪辑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77945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77945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粗剪 · 节奏 · 转场
字幕 · 调色 · 导出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7945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7945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82913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482913" y="1755648"/>
            <a:ext cx="2050688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4081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第五课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4081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脚本思路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84081" y="2798064"/>
            <a:ext cx="1648353" cy="0"/>
          </a:xfrm>
          <a:prstGeom prst="line">
            <a:avLst/>
          </a:prstGeom>
          <a:ln w="12700">
            <a:solidFill>
              <a:srgbClr val="2E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84081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C3DAE6"/>
                </a:solidFill>
                <a:latin typeface="微软雅黑"/>
                <a:ea typeface="微软雅黑"/>
                <a:cs typeface="微软雅黑"/>
              </a:rPr>
              <a:t>选题 · 钩子 · 结构
分镜 · 台词 · 复盘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4081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84081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38928"/>
            <a:ext cx="10875234" cy="859536"/>
          </a:xfrm>
          <a:prstGeom prst="roundRect">
            <a:avLst>
              <a:gd name="adj" fmla="val 8510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138928"/>
            <a:ext cx="64008" cy="85953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五课一条线：构图决定好不好看，运镜决定动不动，收音决定听得清不清，剪辑决定节奏，脚本决定有没有人看下去。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590F820-D1BF-A76C-70A7-5943A5C4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为什么一定要先写脚本？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没有脚本的拍摄，90% 的素材最终会躺在硬盘里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49240" cy="2359152"/>
          </a:xfrm>
          <a:prstGeom prst="roundRect">
            <a:avLst>
              <a:gd name="adj" fmla="val 3875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93392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不写脚本会发生什么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64308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395728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拍了一堆，剪的时候发现缺关键镜头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782824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714244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现场反复重拍，时间全浪费在犹豫上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10134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03276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内容散、没有重点，观众看不到一半就走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" y="341985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35127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更新全靠灵感，断更成为常态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1828800"/>
            <a:ext cx="5111496" cy="2359152"/>
          </a:xfrm>
          <a:prstGeom prst="roundRect">
            <a:avLst>
              <a:gd name="adj" fmla="val 3875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写了脚本会怎样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464308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395728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拍摄效率提升两三倍，一次拍完不缺镜头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2782824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2714244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内容有重点，观众知道“这条在讲什么”</a:t>
            </a:r>
          </a:p>
        </p:txBody>
      </p:sp>
      <p:sp>
        <p:nvSpPr>
          <p:cNvPr id="27" name="Oval 26"/>
          <p:cNvSpPr/>
          <p:nvPr/>
        </p:nvSpPr>
        <p:spPr>
          <a:xfrm>
            <a:off x="6725412" y="310134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4576" y="303276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可以提前排查风险（场地、天气、版权）</a:t>
            </a:r>
          </a:p>
        </p:txBody>
      </p:sp>
      <p:sp>
        <p:nvSpPr>
          <p:cNvPr id="29" name="Oval 28"/>
          <p:cNvSpPr/>
          <p:nvPr/>
        </p:nvSpPr>
        <p:spPr>
          <a:xfrm>
            <a:off x="6725412" y="341985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94576" y="335127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能稳定周更，账号才有复利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407408"/>
            <a:ext cx="10875234" cy="1536192"/>
          </a:xfrm>
          <a:prstGeom prst="roundRect">
            <a:avLst>
              <a:gd name="adj" fmla="val 595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407408"/>
            <a:ext cx="64008" cy="153619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4572000"/>
            <a:ext cx="1027173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关键认知：脚本不是“作文”，而是一张施工图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974336"/>
            <a:ext cx="1027173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你不需要写得漂亮。只要写清“先拍什么、后拍什么、每段说什么、大概多少秒”，这张纸就能帮你在现场省下一半时间。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68DAF65-314C-9755-751F-D3795BC89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核心方法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脚本五段式：一条 Vlog 的骨架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按秒数分配注意力——这套结构适用于 90% 的短视频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pic>
        <p:nvPicPr>
          <p:cNvPr id="11" name="Picture 10" descr="s03_09_750x3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6858000" cy="30175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10512"/>
            <a:ext cx="3651474" cy="694944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82128" y="1810512"/>
            <a:ext cx="5486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6" y="1883664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钩子 0–3s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94560"/>
            <a:ext cx="328571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决定观众留不留下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2542032"/>
            <a:ext cx="3651474" cy="694944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8" y="2542032"/>
            <a:ext cx="54864" cy="694944"/>
          </a:xfrm>
          <a:prstGeom prst="rect">
            <a:avLst/>
          </a:prstGeom>
          <a:solidFill>
            <a:srgbClr val="DEA0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615184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DEA05A"/>
                </a:solidFill>
                <a:latin typeface="微软雅黑"/>
                <a:ea typeface="微软雅黑"/>
                <a:cs typeface="微软雅黑"/>
              </a:rPr>
              <a:t>承诺 3–8s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926080"/>
            <a:ext cx="328571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告诉观众能得到什么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3273552"/>
            <a:ext cx="3651474" cy="694944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3273552"/>
            <a:ext cx="54864" cy="69494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83296" y="3346704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内容 8–45s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657600"/>
            <a:ext cx="328571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2~4 个小点，每点一个画面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8" y="4005072"/>
            <a:ext cx="3651474" cy="694944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2128" y="4005072"/>
            <a:ext cx="54864" cy="69494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3296" y="4078224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高潮 45–55s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389120"/>
            <a:ext cx="328571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最想让人记住的那一幕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8" y="4736592"/>
            <a:ext cx="3651474" cy="694944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82128" y="4736592"/>
            <a:ext cx="54864" cy="694944"/>
          </a:xfrm>
          <a:prstGeom prst="rect">
            <a:avLst/>
          </a:prstGeom>
          <a:solidFill>
            <a:srgbClr val="6E8C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3296" y="4809744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6E8CA5"/>
                </a:solidFill>
                <a:latin typeface="微软雅黑"/>
                <a:ea typeface="微软雅黑"/>
                <a:cs typeface="微软雅黑"/>
              </a:rPr>
              <a:t>引导 55–60s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5120640"/>
            <a:ext cx="328571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提问 / 关注 / 留白收尾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486400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486400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长视频可以循环：钩子 → 内容 → 小高潮 → 新钩子 → 内容 → 大高潮 → 引导。短视频只有一次机会，所以 0–3 秒必须最好。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6822B75-0068-169F-C8DD-B1E106CF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不同内容的脚本模板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套模板比从零想快十倍；先照着写，熟了再改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2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2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内容类型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钩子怎么写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主体结构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结尾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 / 美食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价格反差或排队长龙画面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 → 招牌菜 → 试吃反应 → 价格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值不值得来 / 推荐指数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旅行 Vlog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最美的一帧放到最前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出发 → 到达 → 亮点体验 → 意外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攻略要点 + 下期预告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 / 教程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结论先行 + 反常识问题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 → 方法三步 → 演示 → 避坑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总结一句话 + 引导提问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好物开箱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悬念：“这个 39 元的东西…”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痛点 → 开箱 → 实测 → 对比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适合谁买 / 不适合谁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生活记录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一个具体的小细节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时间线推进 → 情绪变化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一句感受 + 留白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人物访谈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一句最狠的原话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人物介绍 → 三个问题 → 金句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人物近况 / 引导关注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用法：先确定内容类型 → 抄对应那一行 → 把括号里的字换成你的内容。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63295D0-8588-DF84-7DB5-4A541BC94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选题：先想清楚“给谁看、解决什么”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选题决定天花板，脚本只决定下限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75104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选题三问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2773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359152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给谁看？—— 说得出具体的一类人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73710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668524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解决什么？—— 信息价值或情绪价值至少占一个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0464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297789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为什么是你？—— 你有什么别人没有的视角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810512"/>
            <a:ext cx="5111496" cy="2011680"/>
          </a:xfrm>
          <a:prstGeom prst="roundRect">
            <a:avLst>
              <a:gd name="adj" fmla="val 4545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19088" y="1810512"/>
            <a:ext cx="64008" cy="201168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975104"/>
            <a:ext cx="463600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找选题的四个来源</a:t>
            </a:r>
          </a:p>
        </p:txBody>
      </p:sp>
      <p:sp>
        <p:nvSpPr>
          <p:cNvPr id="22" name="Oval 21"/>
          <p:cNvSpPr/>
          <p:nvPr/>
        </p:nvSpPr>
        <p:spPr>
          <a:xfrm>
            <a:off x="6725412" y="242773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94576" y="2359152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评论区与私信里的高频问题</a:t>
            </a:r>
          </a:p>
        </p:txBody>
      </p:sp>
      <p:sp>
        <p:nvSpPr>
          <p:cNvPr id="24" name="Oval 23"/>
          <p:cNvSpPr/>
          <p:nvPr/>
        </p:nvSpPr>
        <p:spPr>
          <a:xfrm>
            <a:off x="6725412" y="27279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94576" y="2659380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同赛道爆款视频的评论区</a:t>
            </a:r>
          </a:p>
        </p:txBody>
      </p:sp>
      <p:sp>
        <p:nvSpPr>
          <p:cNvPr id="26" name="Oval 25"/>
          <p:cNvSpPr/>
          <p:nvPr/>
        </p:nvSpPr>
        <p:spPr>
          <a:xfrm>
            <a:off x="6725412" y="30281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94576" y="2959608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自己最近真实遇到的麻烦</a:t>
            </a:r>
          </a:p>
        </p:txBody>
      </p:sp>
      <p:sp>
        <p:nvSpPr>
          <p:cNvPr id="28" name="Oval 27"/>
          <p:cNvSpPr/>
          <p:nvPr/>
        </p:nvSpPr>
        <p:spPr>
          <a:xfrm>
            <a:off x="6725412" y="33284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94576" y="3259836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地域 / 职业 / 身份带来的独有场景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8368" y="3968496"/>
          <a:ext cx="108752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选题方向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信息价值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情绪价值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拍摄难度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推荐指数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“杭州 6 点的早餐摊”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高（地点 + 价格）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高（烟火气）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“300 元吃到撑的火锅”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高（价格锚点）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“一个人拍 Vlog 的 5 个技巧”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很高（可复用）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“我在杭州住了 3 年才发现的店”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高（独家感）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“随手拍的一天”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2" name="图片 31">
            <a:extLst>
              <a:ext uri="{FF2B5EF4-FFF2-40B4-BE49-F238E27FC236}">
                <a16:creationId xmlns:a16="http://schemas.microsoft.com/office/drawing/2014/main" id="{42748370-C3D4-0106-5CE8-F0A382E8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2148840"/>
            <a:ext cx="369417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200" b="1">
                <a:solidFill>
                  <a:srgbClr val="2E6F8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10128"/>
            <a:ext cx="88148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钩子 · 结构 · 分镜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86319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A8C2D4"/>
                </a:solidFill>
                <a:latin typeface="微软雅黑"/>
                <a:ea typeface="微软雅黑"/>
                <a:cs typeface="微软雅黑"/>
              </a:rPr>
              <a:t>把想法写成可执行的拍摄清单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4892040"/>
            <a:ext cx="3474720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7FA0B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D9FDF76-7EE0-5A65-CBF6-CF491E960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钩子：前 3 秒怎么写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钩子不是“吸引眼球”，而是让对的人知道“这条跟我有关”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pic>
        <p:nvPicPr>
          <p:cNvPr id="11" name="Picture 10" descr="s07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83664"/>
            <a:ext cx="3651474" cy="2048256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1584" y="204825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四种钩子句式</a:t>
            </a:r>
          </a:p>
        </p:txBody>
      </p:sp>
      <p:sp>
        <p:nvSpPr>
          <p:cNvPr id="14" name="Oval 13"/>
          <p:cNvSpPr/>
          <p:nvPr/>
        </p:nvSpPr>
        <p:spPr>
          <a:xfrm>
            <a:off x="8151876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432304"/>
            <a:ext cx="3029682" cy="463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反差：“这家人均 15 元，却要排队 1 小时”</a:t>
            </a:r>
          </a:p>
        </p:txBody>
      </p:sp>
      <p:sp>
        <p:nvSpPr>
          <p:cNvPr id="16" name="Oval 15"/>
          <p:cNvSpPr/>
          <p:nvPr/>
        </p:nvSpPr>
        <p:spPr>
          <a:xfrm>
            <a:off x="8151876" y="300532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936748"/>
            <a:ext cx="3029682" cy="463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悬念：“我在杭州找到了一家没有招牌的店”</a:t>
            </a:r>
          </a:p>
        </p:txBody>
      </p:sp>
      <p:sp>
        <p:nvSpPr>
          <p:cNvPr id="18" name="Oval 17"/>
          <p:cNvSpPr/>
          <p:nvPr/>
        </p:nvSpPr>
        <p:spPr>
          <a:xfrm>
            <a:off x="8151876" y="35097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3441192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利益：“看完这条，你会少走 3 年弯路”</a:t>
            </a:r>
          </a:p>
        </p:txBody>
      </p:sp>
      <p:sp>
        <p:nvSpPr>
          <p:cNvPr id="20" name="Oval 19"/>
          <p:cNvSpPr/>
          <p:nvPr/>
        </p:nvSpPr>
        <p:spPr>
          <a:xfrm>
            <a:off x="8151876" y="38100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741420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提问：“你猜这顿多少钱？”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8" y="4078224"/>
            <a:ext cx="3651474" cy="1737360"/>
          </a:xfrm>
          <a:prstGeom prst="roundRect">
            <a:avLst>
              <a:gd name="adj" fmla="val 526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82128" y="4078224"/>
            <a:ext cx="64008" cy="173736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9872" y="4224528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三条禁忌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590288"/>
            <a:ext cx="3212562" cy="9738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✕ “大家好，我是……”
✕ 片头 Logo 动画超过 2 秒
✕ 用与内容无关的夸张标题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9A82B00-48EF-315C-26D6-F1A9FA242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4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钩子对照表：这样说才有用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同样的内容，换一句话，完播率差别很大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1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✕ 平淡的开头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有钩子的开头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为什么有效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“今天我们来探店”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“这家店没有招牌，却开了 20 年”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 + 悬念，制造好奇心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“今天教大家剪视频”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“剪视频最浪费时间的 3 个习惯”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痛点先行，观众自我对号入座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旅行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“今天我们来到西湖”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“早上 5 点的西湖，和你想的不一样”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时间反差 + 打破预期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开箱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“今天开箱一个新东西”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“39 元的东西，我用了一个月”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价格锚点 + 时间成本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“记录一下普通的一天”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“我在这个城市搬了第 4 次家”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具体数字 + 情绪入口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检验方法：把开头念给一个不了解情况的朋友听——如果他问“然后呢”，这个钩子就成立。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E31A5E8-259A-0440-A6F6-F833C1C08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主体：三段式把内容讲清楚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中间最容易写散，用固定结构兜住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10875234" cy="1225296"/>
          </a:xfrm>
          <a:prstGeom prst="roundRect">
            <a:avLst>
              <a:gd name="adj" fmla="val 746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4864" cy="1225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956816"/>
            <a:ext cx="27797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铺垫（1/4）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交代背景与条件，让观众“进入情境”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377440"/>
            <a:ext cx="50596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例：这家店在哪、什么时候去、多少钱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45536"/>
            <a:ext cx="10875234" cy="1225296"/>
          </a:xfrm>
          <a:prstGeom prst="roundRect">
            <a:avLst>
              <a:gd name="adj" fmla="val 746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145536"/>
            <a:ext cx="54864" cy="1225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27797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② 递进（2/4）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12464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2~4 个信息点，一点一个画面，层层加码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712464"/>
            <a:ext cx="50596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例：环境 → 招牌菜 → 味道 → 价格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80560"/>
            <a:ext cx="10875234" cy="1225296"/>
          </a:xfrm>
          <a:prstGeom prst="roundRect">
            <a:avLst>
              <a:gd name="adj" fmla="val 746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480560"/>
            <a:ext cx="54864" cy="1225296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26864"/>
            <a:ext cx="27797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③ 转折 / 高潮（1/4）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给一个意外或情绪高点，让人记住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5047488"/>
            <a:ext cx="50596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例：老板说的一句话 / 一个意外发现</a:t>
            </a:r>
          </a:p>
        </p:txBody>
      </p:sp>
      <p:pic>
        <p:nvPicPr>
          <p:cNvPr id="26" name="Picture 25" descr="s09_24_383x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15584"/>
            <a:ext cx="3502152" cy="457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pic>
        <p:nvPicPr>
          <p:cNvPr id="27" name="Picture 26" descr="s09_25_383x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815584"/>
            <a:ext cx="3502152" cy="457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pic>
        <p:nvPicPr>
          <p:cNvPr id="28" name="Picture 27" descr="s09_26_383x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5815584"/>
            <a:ext cx="3502152" cy="457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3D010D1-0A4A-5197-27CF-38847EDF5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结尾：别用“今天就这样吧”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结尾决定观众会不会看你的下一条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2615184" cy="3877056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10512"/>
            <a:ext cx="2615184" cy="548640"/>
          </a:xfrm>
          <a:prstGeom prst="roundRect">
            <a:avLst>
              <a:gd name="adj" fmla="val 16666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2139696"/>
            <a:ext cx="2615184" cy="21945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42032"/>
            <a:ext cx="2249424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把全片压成一句话，强化记忆点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3310128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" y="3493008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785616"/>
            <a:ext cx="2249424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“一句话总结：早上 6 点来，人均 15 元。”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5284" y="1810512"/>
            <a:ext cx="2615184" cy="3877056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15284" y="1810512"/>
            <a:ext cx="2615184" cy="548640"/>
          </a:xfrm>
          <a:prstGeom prst="roundRect">
            <a:avLst>
              <a:gd name="adj" fmla="val 16666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15284" y="2139696"/>
            <a:ext cx="2615184" cy="21945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5284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提问型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6452" y="2542032"/>
            <a:ext cx="2249424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用问题激活评论区，提升互动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6452" y="3310128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16452" y="3493008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6452" y="3785616"/>
            <a:ext cx="2249424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“你所在的城市，6 点最热闹的地方在哪？”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10512"/>
            <a:ext cx="2615184" cy="3877056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72200" y="1810512"/>
            <a:ext cx="2615184" cy="548640"/>
          </a:xfrm>
          <a:prstGeom prst="roundRect">
            <a:avLst>
              <a:gd name="adj" fmla="val 16666"/>
            </a:avLst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2139696"/>
            <a:ext cx="2615184" cy="219456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预告型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542032"/>
            <a:ext cx="2249424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给下一条留钩子，形成追更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73368" y="3310128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73368" y="3493008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示例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785616"/>
            <a:ext cx="2249424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“下周我去试了同一家店的宵夜，结果……”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9116" y="1810512"/>
            <a:ext cx="2615184" cy="3877056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29116" y="1810512"/>
            <a:ext cx="2615184" cy="548640"/>
          </a:xfrm>
          <a:prstGeom prst="roundRect">
            <a:avLst>
              <a:gd name="adj" fmla="val 16666"/>
            </a:avLst>
          </a:prstGeom>
          <a:solidFill>
            <a:srgbClr val="6E8C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29116" y="2139696"/>
            <a:ext cx="2615184" cy="219456"/>
          </a:xfrm>
          <a:prstGeom prst="rect">
            <a:avLst/>
          </a:prstGeom>
          <a:solidFill>
            <a:srgbClr val="6E8C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29116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留白型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284" y="2542032"/>
            <a:ext cx="2249424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用安静的画面收尾，制造余味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30284" y="3310128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30284" y="3493008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6E8CA5"/>
                </a:solidFill>
                <a:latin typeface="微软雅黑"/>
                <a:ea typeface="微软雅黑"/>
                <a:cs typeface="微软雅黑"/>
              </a:rPr>
              <a:t>示例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0284" y="3785616"/>
            <a:ext cx="2249424" cy="6470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（画面：空镜头 + 音乐渐弱 + 一句字幕）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22976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" y="5522976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522976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最忌讳：突然黑屏、音乐硬切、没有收尾语——观众会觉得“没做完”，直接影响完播与关注。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D5E24B1-DC3E-4CA6-F107-E365BCD1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从脚本到分镜表：写成一列一列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脚本是“说什么”，分镜是“怎么拍”——一张表管两件事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pic>
        <p:nvPicPr>
          <p:cNvPr id="11" name="Picture 10" descr="s11_09_750x3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6858000" cy="3429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47088"/>
            <a:ext cx="3651474" cy="1938528"/>
          </a:xfrm>
          <a:prstGeom prst="roundRect">
            <a:avLst>
              <a:gd name="adj" fmla="val 4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1584" y="2011680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分镜表必须有五列</a:t>
            </a:r>
          </a:p>
        </p:txBody>
      </p:sp>
      <p:sp>
        <p:nvSpPr>
          <p:cNvPr id="14" name="Oval 13"/>
          <p:cNvSpPr/>
          <p:nvPr/>
        </p:nvSpPr>
        <p:spPr>
          <a:xfrm>
            <a:off x="8151876" y="246430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395728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镜号：方便现场打勾，避免漏拍</a:t>
            </a:r>
          </a:p>
        </p:txBody>
      </p:sp>
      <p:sp>
        <p:nvSpPr>
          <p:cNvPr id="16" name="Oval 15"/>
          <p:cNvSpPr/>
          <p:nvPr/>
        </p:nvSpPr>
        <p:spPr>
          <a:xfrm>
            <a:off x="8151876" y="276453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95956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时长：写秒数，控制总长度</a:t>
            </a:r>
          </a:p>
        </p:txBody>
      </p:sp>
      <p:sp>
        <p:nvSpPr>
          <p:cNvPr id="18" name="Oval 17"/>
          <p:cNvSpPr/>
          <p:nvPr/>
        </p:nvSpPr>
        <p:spPr>
          <a:xfrm>
            <a:off x="8151876" y="30647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996184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画面：拍什么、在哪拍、谁出镜</a:t>
            </a:r>
          </a:p>
        </p:txBody>
      </p:sp>
      <p:sp>
        <p:nvSpPr>
          <p:cNvPr id="20" name="Oval 19"/>
          <p:cNvSpPr/>
          <p:nvPr/>
        </p:nvSpPr>
        <p:spPr>
          <a:xfrm>
            <a:off x="8151876" y="336499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296412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台词 / 字幕：出镜说什么，或字幕写什么</a:t>
            </a:r>
          </a:p>
        </p:txBody>
      </p:sp>
      <p:sp>
        <p:nvSpPr>
          <p:cNvPr id="22" name="Oval 21"/>
          <p:cNvSpPr/>
          <p:nvPr/>
        </p:nvSpPr>
        <p:spPr>
          <a:xfrm>
            <a:off x="8151876" y="36652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596640"/>
            <a:ext cx="302968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运镜：用第一、二课学的运镜填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8" y="3913632"/>
            <a:ext cx="3651474" cy="1362456"/>
          </a:xfrm>
          <a:prstGeom prst="roundRect">
            <a:avLst>
              <a:gd name="adj" fmla="val 6711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01584" y="405993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现场用法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4425696"/>
            <a:ext cx="3249138" cy="5730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05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打印或存在手机备忘录里，每拍完一行打一个勾。
全部打勾 = 这条片子的素材齐了。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8135D61-5278-A2DD-0C9F-FEA7FCEA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写作技巧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台词与口播：说得像人话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写的时候是“书面语”，说出来就会僵硬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1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✕ 书面化表达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口语化改写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句子太长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“我们今天要前往这家位于市中心的餐厅”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“今天去的这家店，在市中心”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一口气说不完，观众跟不上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形容词堆砌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“非常非常好吃，味道绝佳”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“这一口很烫，汤是清的，有胡椒味”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具体感受比形容词可信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信息过载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一句话塞五个信息点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一句话一个信息，说完停半秒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口播要留换气与消化时间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生硬转折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“接下来我们进行下一个环节”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“吃完这个，我们去了隔壁”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用连接词而不是流程词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自检方法：把台词念出声，录音回放——如果自己听着别扭，观众一定也听着别扭。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AF439AA-CE48-CD76-8978-D1D38C56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案例拆解：60 秒“清晨早餐摊”脚本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从选题到分镜，完整走一遍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pic>
        <p:nvPicPr>
          <p:cNvPr id="11" name="Picture 10" descr="s13_09_585x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2224"/>
            <a:ext cx="5349240" cy="1975104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58368" y="1792224"/>
            <a:ext cx="5349240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792224"/>
            <a:ext cx="50200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选题：城市清晨的烟火气</a:t>
            </a:r>
          </a:p>
        </p:txBody>
      </p:sp>
      <p:pic>
        <p:nvPicPr>
          <p:cNvPr id="14" name="Picture 13" descr="s13_12_559x2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92224"/>
            <a:ext cx="5111496" cy="1975104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419088" y="1792224"/>
            <a:ext cx="5111496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478231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画面：早餐摊、热气、街景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3877056"/>
          <a:ext cx="108752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5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段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台词 / 字幕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画面与运镜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0–3s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价格反差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“在杭州，6 点的早饭只要 8 元”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升镜 + 摊位特写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3–8s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说明能得到什么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“带你看这条街最热闹的 15 分钟”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横摇扫街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8–22s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环境与老板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“老板在这儿做了 20 年”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跟随老板进店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22–38s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招牌早点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“小笼 8 元一笼，现包现蒸”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俯拍 + 推近特写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高潮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38–52s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试吃反应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“这一口很烫，汤是清的”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侧拍 + 慢动作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引导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52–60s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收尾提问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“你那边 6 点最热闹的是哪儿？”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拉远 + 定格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F4526B46-824F-5F91-4C4D-FE5AA8E28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质量把关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脚本自检表：写完后逐条打勾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这 8 条不过关，拍摄一定出问题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不合格的表现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钩子是否在前 3 秒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开头是自我介绍或 Logo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把最狠的一句挪到第一句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全片只说一件事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既想探店又想教程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砍掉次要目标，只留一个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主体有 2~4 个信息点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一堆零散镜头没有逻辑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合并成 2~4 个小节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有没有高潮镜头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全程平铺直叙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设计一个意外或情绪高点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每段有没有配画面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只有台词没有画面设计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给每段写清拍什么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台词能一口气念完吗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长句、书面语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拆短、改成口语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总时长是否可控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写了 10 个信息点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按每点 8~12 秒估算总长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结尾有没有引导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突然结束，没有收尾语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加总结 / 提问 / 预告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建议：写完后隔一小时再读一遍——刚写完时你会自动“脑补”缺失的信息，隔一会儿才看得见问题。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7E771DB-BC81-27C8-C937-CDB20299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排雷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脚本常见错误自查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对照检查：中三条以上，这条片子从选题就该重想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✕ 错误做法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后果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正确做法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选题太宽：“记录我的一天”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没有重点，观众看不到一半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限定到具体时间与地点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钩子放在第 10 秒之后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 3 秒流失大量观众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把最强的信息提到最前面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一条片子里塞多个主题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信息互相稀释，记不住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一条只讲一件事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只写台词，不写画面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现场不知道拍什么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每段台词配一个画面描述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台词全是书面语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念出来僵硬、不自然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念出声改写成口语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没有结尾设计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突然结束，影响关注转化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加总结 / 提问 / 预告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不写时长，凭感觉拍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素材过长，剪辑时才发现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每段标注秒数，估算总长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万能补救：如果已经拍完发现脚本有问题，至少把最好的那一帧挪到开头。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E6CDA37-96B4-3B63-07DC-1298410D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持续产出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发布后复盘：把数据变成下一条的脚本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不要只看播放量，重点看“哪里掉人”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3895344"/>
          </a:xfrm>
          <a:prstGeom prst="roundRect">
            <a:avLst>
              <a:gd name="adj" fmla="val 234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349240" cy="82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8"/>
            <a:ext cx="4873752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四个关键数据</a:t>
            </a:r>
          </a:p>
        </p:txBody>
      </p:sp>
      <p:sp>
        <p:nvSpPr>
          <p:cNvPr id="14" name="Oval 13"/>
          <p:cNvSpPr/>
          <p:nvPr/>
        </p:nvSpPr>
        <p:spPr>
          <a:xfrm>
            <a:off x="964692" y="26289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2560320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3 秒留存：低于 70% → 钩子不合格，重写开头</a:t>
            </a:r>
          </a:p>
        </p:txBody>
      </p:sp>
      <p:sp>
        <p:nvSpPr>
          <p:cNvPr id="16" name="Oval 15"/>
          <p:cNvSpPr/>
          <p:nvPr/>
        </p:nvSpPr>
        <p:spPr>
          <a:xfrm>
            <a:off x="964692" y="301142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2942844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完播率：低于 20% → 中段太长，砍掉 1/3</a:t>
            </a:r>
          </a:p>
        </p:txBody>
      </p:sp>
      <p:sp>
        <p:nvSpPr>
          <p:cNvPr id="18" name="Oval 17"/>
          <p:cNvSpPr/>
          <p:nvPr/>
        </p:nvSpPr>
        <p:spPr>
          <a:xfrm>
            <a:off x="964692" y="33939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3856" y="3325368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互动率：评论少 → 结尾提问不够具体</a:t>
            </a:r>
          </a:p>
        </p:txBody>
      </p:sp>
      <p:sp>
        <p:nvSpPr>
          <p:cNvPr id="20" name="Oval 19"/>
          <p:cNvSpPr/>
          <p:nvPr/>
        </p:nvSpPr>
        <p:spPr>
          <a:xfrm>
            <a:off x="964692" y="37764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3856" y="3707892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涨粉率：播放高但不涨粉 → 人设与价值不清晰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26864"/>
            <a:ext cx="483717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4754880"/>
            <a:ext cx="4544568" cy="3407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2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每条片子只改一个变量：先改钩子，再改结构，最后改节奏。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810512"/>
            <a:ext cx="5111496" cy="3895344"/>
          </a:xfrm>
          <a:prstGeom prst="roundRect">
            <a:avLst>
              <a:gd name="adj" fmla="val 2347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8" y="2029968"/>
            <a:ext cx="4599432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建立自己的选题库</a:t>
            </a:r>
          </a:p>
        </p:txBody>
      </p:sp>
      <p:sp>
        <p:nvSpPr>
          <p:cNvPr id="26" name="Oval 25"/>
          <p:cNvSpPr/>
          <p:nvPr/>
        </p:nvSpPr>
        <p:spPr>
          <a:xfrm>
            <a:off x="6743700" y="26837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2864" y="2615184"/>
            <a:ext cx="43799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随时记录：遇到好场景、好问题立刻记下来</a:t>
            </a:r>
          </a:p>
        </p:txBody>
      </p:sp>
      <p:sp>
        <p:nvSpPr>
          <p:cNvPr id="28" name="Oval 27"/>
          <p:cNvSpPr/>
          <p:nvPr/>
        </p:nvSpPr>
        <p:spPr>
          <a:xfrm>
            <a:off x="6743700" y="30845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12864" y="3015996"/>
            <a:ext cx="43799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每条只写三行：选题 / 钩子 / 三个信息点</a:t>
            </a:r>
          </a:p>
        </p:txBody>
      </p:sp>
      <p:sp>
        <p:nvSpPr>
          <p:cNvPr id="30" name="Oval 29"/>
          <p:cNvSpPr/>
          <p:nvPr/>
        </p:nvSpPr>
        <p:spPr>
          <a:xfrm>
            <a:off x="6743700" y="34853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3416808"/>
            <a:ext cx="43799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攒够 20 条，周更三个月不用愁题材</a:t>
            </a:r>
          </a:p>
        </p:txBody>
      </p:sp>
      <p:sp>
        <p:nvSpPr>
          <p:cNvPr id="32" name="Oval 31"/>
          <p:cNvSpPr/>
          <p:nvPr/>
        </p:nvSpPr>
        <p:spPr>
          <a:xfrm>
            <a:off x="6743700" y="38862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12864" y="3817620"/>
            <a:ext cx="43799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每月清一次：数据好的做成系列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BCD6A17-DAA9-1D0D-188B-2644E6F9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本课知识点总结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一句话：脚本是拍摄的施工图，不是作文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一句话要点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最容易搞错的地方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脚本的作用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提前决定拍什么，省一半现场时间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凭感觉拍，素材回家才发现不够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五段式结构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 → 承诺 → 内容 → 高潮 → 引导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没有高潮，全程平铺直叙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给谁看 + 解决什么 + 为什么是你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选题太宽，什么都想说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钩子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 3 秒给出反差 / 悬念 / 利益 / 提问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开头先自我介绍或放 Logo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2~4 个信息点，一点一个画面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信息点太多，互相稀释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 / 提问 / 预告 / 留白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突然结束，没有收尾语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分镜表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镜号 · 时长 · 画面 · 台词 · 运镜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只写台词不写画面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念出来像人话，一句一个信息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书面语太长，念着僵硬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 3 秒留存与完播率，每次只改一个变量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只看播放量，不知道问题在哪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22976"/>
            <a:ext cx="10875234" cy="530352"/>
          </a:xfrm>
          <a:prstGeom prst="roundRect">
            <a:avLst>
              <a:gd name="adj" fmla="val 1379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522976"/>
            <a:ext cx="1091181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唯一铁律：先写完一页纸，再拿起相机。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A98632E-248F-6718-AB22-9F5BFA03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图片与版权说明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第五课　Vlog 脚本入门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091181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本课件中的实拍示例图片来自公开网络，仅用于课堂教学演示；全部脚本示意图（五段式、留存曲线、分镜表结构）为本课程自制。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95728"/>
          <a:ext cx="10875233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封面 / 写作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中国创作者写脚本场景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选题 / 案例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城市清晨、早餐摊、街景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旅行 / 生活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中国风景与生活场景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脚本示意图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五段式时间轴、留存曲线、分镜表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本课程自制（可自由使用）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22393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41324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1324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如需商业用途，请替换为自有素材或已授权图片</a:t>
            </a:r>
            <a:r>
              <a:rPr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4000"/>
              </a:lnSpc>
            </a:pP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本课程已在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GitHub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开源，如有需要自行前往搜索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vlog-s-</a:t>
            </a:r>
            <a:r>
              <a:rPr lang="en-US" altLang="zh-CN" sz="1200" b="1" dirty="0" err="1">
                <a:solidFill>
                  <a:srgbClr val="FFFFFF"/>
                </a:solidFill>
                <a:latin typeface="微软雅黑"/>
                <a:ea typeface="微软雅黑"/>
              </a:rPr>
              <a:t>studyppt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下载浏览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E80FBC9-2B81-6943-8058-2883F597D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20_01_69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3981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第五课 · 完　系列课程完结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52486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五课一条线，从拍到发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785616"/>
            <a:ext cx="219456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6DFED870-5CA3-36FA-034A-3E09978E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1480</Words>
  <Application>Microsoft Office PowerPoint</Application>
  <PresentationFormat>宽屏</PresentationFormat>
  <Paragraphs>454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楚航 陆</cp:lastModifiedBy>
  <cp:revision>3</cp:revision>
  <dcterms:created xsi:type="dcterms:W3CDTF">2013-01-27T09:14:16Z</dcterms:created>
  <dcterms:modified xsi:type="dcterms:W3CDTF">2026-09-27T12:15:57Z</dcterms:modified>
  <cp:category/>
</cp:coreProperties>
</file>